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0595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name is Daivansh, and this is my teammate Jayaram. Today we will present our Java mini project. It is called Farmer's Market Price and Sales Tracker.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is a simple Java program that helps farmers keep track of their crop sales.
The user can enter the crop name, how many kilograms were sold, and the price per kilogram. The program saves this information and shows all the records when we need them.
It can also find the crop with the highest selling price. It can calculate the total revenue, the expenses, and the net profit.
There is a simple menu, so the user can pick any option easily. In this program we used arrays, loops, methods, if statements, switch cases, and the Scanner class for user input.
In short, this program keeps sales information organized and makes basic calculations easy for farmers.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Farmers sell many different crops every day. Writing all the sales in a notebook can be difficult. They have to note the crop name, the quantity, and the price, and then work out how much money they earned.
Our project makes this work easier. The user can add sales, view all sales, calculate the total revenue, and find the profit after taking away the expenses.
Our main aim was to build a simple system that farmers can use easily to keep their money records neat and organized.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see the Java concepts we used. First, CO1.
For data types, we used String, double, int, and boolean. For example, the crop name is a String, and the price is a double.
For variables, we used cropName, quantity, pricePerKg, revenue, expenses, and profit.
For operators, we used arithmetic operators like multiply and subtract to calculate money. We also used relational operators to compare values, like finding the highest price.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is CO2.
For input, we used the Scanner class. We used nextLine() for text, nextDouble() for decimal numbers, and nextInt() for whole numbers.
We used an if statement to check if there are any sales records. The code is: if sales dot isEmpty. If the list is empty, the program tells the user that there is no data yet.
We used a switch statement for the menu. It has choices up to case 5, and each case does one job. We used a break statement after every case so the program does not run into the next case.
We also used loops. The for loop shows all the records. The do-while loop keeps the menu running until the user chooses to exit.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CO3.
We used methods to keep the code clean. Each method does one job. addSale() adds a new sale. displaySales() shows all sales. calculateRevenue() finds the total money earned. calculateProfit() finds the profit.
To store many sales, we used an ArrayList called sales. It is better than a normal array because it grows automatically.
We used a few ArrayList methods. sales.add() adds a new record. sales.isEmpty() checks if the list is empty. sales.size() tells us how many records there are. And sales.get(i) gives us one record at position i.</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last slide, you can see our geo-tagged project photo and our GitHub link. You can open the link to see our full code.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our project. Thank you for listening. We are happy to answer any questions.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82512"/>
            <a:ext cx="48463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F696E"/>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82512"/>
            <a:ext cx="48463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F696E"/>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22.jpeg"/><Relationship Id="rId3" Type="http://schemas.openxmlformats.org/officeDocument/2006/relationships/image" Target="../media/image2.png"/><Relationship Id="rId7" Type="http://schemas.openxmlformats.org/officeDocument/2006/relationships/hyperlink" Target="https://github.com/jayaram7-source/java-project-1"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hyperlink" Target="https://github.com/daivanshnikith-star/Java-Project-1" TargetMode="External"/><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7F2"/>
        </a:solidFill>
        <a:effectLst/>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82B40"/>
          </a:solidFill>
          <a:ln w="12700">
            <a:solidFill>
              <a:srgbClr val="182B40"/>
            </a:solidFill>
            <a:prstDash val="solid"/>
          </a:ln>
        </p:spPr>
      </p:sp>
      <p:sp>
        <p:nvSpPr>
          <p:cNvPr id="3" name="Shape 1"/>
          <p:cNvSpPr/>
          <p:nvPr/>
        </p:nvSpPr>
        <p:spPr>
          <a:xfrm>
            <a:off x="1097280" y="2331720"/>
            <a:ext cx="2011680" cy="2011680"/>
          </a:xfrm>
          <a:prstGeom prst="ellipse">
            <a:avLst/>
          </a:prstGeom>
          <a:solidFill>
            <a:srgbClr val="2A754A"/>
          </a:solidFill>
          <a:ln w="38100">
            <a:solidFill>
              <a:srgbClr val="3D9163"/>
            </a:solidFill>
            <a:prstDash val="solid"/>
          </a:ln>
        </p:spPr>
      </p:sp>
      <p:pic>
        <p:nvPicPr>
          <p:cNvPr id="4" name="Image 0" descr="preencoded.png"/>
          <p:cNvPicPr>
            <a:picLocks noChangeAspect="1"/>
          </p:cNvPicPr>
          <p:nvPr/>
        </p:nvPicPr>
        <p:blipFill>
          <a:blip r:embed="rId3"/>
          <a:stretch>
            <a:fillRect/>
          </a:stretch>
        </p:blipFill>
        <p:spPr>
          <a:xfrm>
            <a:off x="1691640" y="2926080"/>
            <a:ext cx="822960" cy="822960"/>
          </a:xfrm>
          <a:prstGeom prst="rect">
            <a:avLst/>
          </a:prstGeom>
        </p:spPr>
      </p:pic>
      <p:pic>
        <p:nvPicPr>
          <p:cNvPr id="5" name="Image 1" descr="/home/claude/orig_x/ppt/media/image1.png"/>
          <p:cNvPicPr>
            <a:picLocks noChangeAspect="1"/>
          </p:cNvPicPr>
          <p:nvPr/>
        </p:nvPicPr>
        <p:blipFill>
          <a:blip r:embed="rId4"/>
          <a:stretch>
            <a:fillRect/>
          </a:stretch>
        </p:blipFill>
        <p:spPr>
          <a:xfrm>
            <a:off x="5029200" y="502920"/>
            <a:ext cx="1371600" cy="1019556"/>
          </a:xfrm>
          <a:prstGeom prst="rect">
            <a:avLst/>
          </a:prstGeom>
        </p:spPr>
      </p:pic>
      <p:sp>
        <p:nvSpPr>
          <p:cNvPr id="6" name="Text 2"/>
          <p:cNvSpPr txBox="1"/>
          <p:nvPr/>
        </p:nvSpPr>
        <p:spPr>
          <a:xfrm>
            <a:off x="5029200" y="2011680"/>
            <a:ext cx="6675120" cy="1737360"/>
          </a:xfrm>
          <a:prstGeom prst="rect">
            <a:avLst/>
          </a:prstGeom>
          <a:noFill/>
          <a:ln/>
        </p:spPr>
        <p:txBody>
          <a:bodyPr wrap="square" lIns="0" tIns="0" rIns="0" bIns="0" rtlCol="0" anchor="t"/>
          <a:lstStyle/>
          <a:p>
            <a:pPr marL="0" indent="0" algn="l">
              <a:buNone/>
            </a:pPr>
            <a:r>
              <a:rPr lang="en-US" sz="4600" b="1" dirty="0">
                <a:solidFill>
                  <a:srgbClr val="182B40"/>
                </a:solidFill>
                <a:latin typeface="Cambria" pitchFamily="34" charset="0"/>
                <a:ea typeface="Cambria" pitchFamily="34" charset="-122"/>
                <a:cs typeface="Cambria" pitchFamily="34" charset="-120"/>
              </a:rPr>
              <a:t>Farmer’s Market</a:t>
            </a:r>
            <a:endParaRPr lang="en-US" sz="4600" dirty="0"/>
          </a:p>
          <a:p>
            <a:pPr marL="0" indent="0" algn="l">
              <a:buNone/>
            </a:pPr>
            <a:r>
              <a:rPr lang="en-US" sz="4600" b="1" dirty="0">
                <a:solidFill>
                  <a:srgbClr val="182B40"/>
                </a:solidFill>
                <a:latin typeface="Cambria" pitchFamily="34" charset="0"/>
                <a:ea typeface="Cambria" pitchFamily="34" charset="-122"/>
                <a:cs typeface="Cambria" pitchFamily="34" charset="-120"/>
              </a:rPr>
              <a:t>Price &amp; Sales Tracker</a:t>
            </a:r>
            <a:endParaRPr lang="en-US" sz="4600" dirty="0"/>
          </a:p>
        </p:txBody>
      </p:sp>
      <p:sp>
        <p:nvSpPr>
          <p:cNvPr id="7" name="Text 3"/>
          <p:cNvSpPr txBox="1"/>
          <p:nvPr/>
        </p:nvSpPr>
        <p:spPr>
          <a:xfrm>
            <a:off x="5029200" y="3977640"/>
            <a:ext cx="6675120" cy="457200"/>
          </a:xfrm>
          <a:prstGeom prst="rect">
            <a:avLst/>
          </a:prstGeom>
          <a:noFill/>
          <a:ln/>
        </p:spPr>
        <p:txBody>
          <a:bodyPr wrap="square" lIns="0" tIns="0" rIns="0" bIns="0" rtlCol="0" anchor="ctr"/>
          <a:lstStyle/>
          <a:p>
            <a:pPr marL="0" indent="0">
              <a:buNone/>
            </a:pPr>
            <a:r>
              <a:rPr lang="en-US" sz="2400" b="1" dirty="0">
                <a:solidFill>
                  <a:srgbClr val="2A754A"/>
                </a:solidFill>
                <a:latin typeface="Calibri" pitchFamily="34" charset="0"/>
                <a:ea typeface="Calibri" pitchFamily="34" charset="-122"/>
                <a:cs typeface="Calibri" pitchFamily="34" charset="-120"/>
              </a:rPr>
              <a:t>Java Mini Project</a:t>
            </a:r>
            <a:endParaRPr lang="en-US" sz="2400" dirty="0"/>
          </a:p>
        </p:txBody>
      </p:sp>
      <p:sp>
        <p:nvSpPr>
          <p:cNvPr id="8" name="Text 4"/>
          <p:cNvSpPr txBox="1"/>
          <p:nvPr/>
        </p:nvSpPr>
        <p:spPr>
          <a:xfrm>
            <a:off x="5029200" y="4572000"/>
            <a:ext cx="6675120" cy="365760"/>
          </a:xfrm>
          <a:prstGeom prst="rect">
            <a:avLst/>
          </a:prstGeom>
          <a:noFill/>
          <a:ln/>
        </p:spPr>
        <p:txBody>
          <a:bodyPr wrap="square" lIns="0" tIns="0" rIns="0" bIns="0" rtlCol="0" anchor="ctr"/>
          <a:lstStyle/>
          <a:p>
            <a:pPr marL="0" indent="0">
              <a:buNone/>
            </a:pPr>
            <a:r>
              <a:rPr lang="en-US" sz="1800" dirty="0">
                <a:solidFill>
                  <a:srgbClr val="222B33"/>
                </a:solidFill>
                <a:latin typeface="Calibri" pitchFamily="34" charset="0"/>
                <a:ea typeface="Calibri" pitchFamily="34" charset="-122"/>
                <a:cs typeface="Calibri" pitchFamily="34" charset="-120"/>
              </a:rPr>
              <a:t>Jayaram M  •  Daivansh V</a:t>
            </a:r>
            <a:endParaRPr lang="en-US" sz="1800" dirty="0"/>
          </a:p>
        </p:txBody>
      </p:sp>
      <p:sp>
        <p:nvSpPr>
          <p:cNvPr id="9" name="Text 5"/>
          <p:cNvSpPr txBox="1"/>
          <p:nvPr/>
        </p:nvSpPr>
        <p:spPr>
          <a:xfrm>
            <a:off x="5029200" y="5029200"/>
            <a:ext cx="6675120" cy="320040"/>
          </a:xfrm>
          <a:prstGeom prst="rect">
            <a:avLst/>
          </a:prstGeom>
          <a:noFill/>
          <a:ln/>
        </p:spPr>
        <p:txBody>
          <a:bodyPr wrap="square" lIns="0" tIns="0" rIns="0" bIns="0" rtlCol="0" anchor="ctr"/>
          <a:lstStyle/>
          <a:p>
            <a:pPr marL="0" indent="0">
              <a:buNone/>
            </a:pPr>
            <a:r>
              <a:rPr lang="en-US" sz="1400" dirty="0">
                <a:solidFill>
                  <a:srgbClr val="5F696E"/>
                </a:solidFill>
                <a:latin typeface="Calibri" pitchFamily="34" charset="0"/>
                <a:ea typeface="Calibri" pitchFamily="34" charset="-122"/>
                <a:cs typeface="Calibri" pitchFamily="34" charset="-120"/>
              </a:rPr>
              <a:t>21 September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7F2"/>
        </a:solidFill>
        <a:effectLst/>
      </p:bgPr>
    </p:bg>
    <p:spTree>
      <p:nvGrpSpPr>
        <p:cNvPr id="1" name=""/>
        <p:cNvGrpSpPr/>
        <p:nvPr/>
      </p:nvGrpSpPr>
      <p:grpSpPr>
        <a:xfrm>
          <a:off x="0" y="0"/>
          <a:ext cx="0" cy="0"/>
          <a:chOff x="0" y="0"/>
          <a:chExt cx="0" cy="0"/>
        </a:xfrm>
      </p:grpSpPr>
      <p:pic>
        <p:nvPicPr>
          <p:cNvPr id="2" name="Image 0" descr="/home/claude/orig_x/ppt/media/image1.png"/>
          <p:cNvPicPr>
            <a:picLocks noChangeAspect="1"/>
          </p:cNvPicPr>
          <p:nvPr/>
        </p:nvPicPr>
        <p:blipFill>
          <a:blip r:embed="rId3"/>
          <a:stretch>
            <a:fillRect/>
          </a:stretch>
        </p:blipFill>
        <p:spPr>
          <a:xfrm>
            <a:off x="457200" y="274320"/>
            <a:ext cx="1097280" cy="815645"/>
          </a:xfrm>
          <a:prstGeom prst="rect">
            <a:avLst/>
          </a:prstGeom>
        </p:spPr>
      </p:pic>
      <p:sp>
        <p:nvSpPr>
          <p:cNvPr id="3" name="Text 0"/>
          <p:cNvSpPr txBox="1"/>
          <p:nvPr/>
        </p:nvSpPr>
        <p:spPr>
          <a:xfrm>
            <a:off x="1783080" y="411480"/>
            <a:ext cx="9966960" cy="685800"/>
          </a:xfrm>
          <a:prstGeom prst="rect">
            <a:avLst/>
          </a:prstGeom>
          <a:noFill/>
          <a:ln/>
        </p:spPr>
        <p:txBody>
          <a:bodyPr wrap="square" lIns="0" tIns="0" rIns="0" bIns="0" rtlCol="0" anchor="ctr"/>
          <a:lstStyle/>
          <a:p>
            <a:pPr marL="0" indent="0" algn="l">
              <a:buNone/>
            </a:pPr>
            <a:r>
              <a:rPr lang="en-US" sz="3600" b="1" dirty="0">
                <a:solidFill>
                  <a:srgbClr val="182B40"/>
                </a:solidFill>
                <a:latin typeface="Cambria" pitchFamily="34" charset="0"/>
                <a:ea typeface="Cambria" pitchFamily="34" charset="-122"/>
                <a:cs typeface="Cambria" pitchFamily="34" charset="-120"/>
              </a:rPr>
              <a:t>Abstract</a:t>
            </a:r>
            <a:endParaRPr lang="en-US" sz="3600" dirty="0"/>
          </a:p>
        </p:txBody>
      </p:sp>
      <p:sp>
        <p:nvSpPr>
          <p:cNvPr id="4" name="Text 1"/>
          <p:cNvSpPr txBox="1"/>
          <p:nvPr/>
        </p:nvSpPr>
        <p:spPr>
          <a:xfrm>
            <a:off x="457200" y="6382512"/>
            <a:ext cx="5486400" cy="274320"/>
          </a:xfrm>
          <a:prstGeom prst="rect">
            <a:avLst/>
          </a:prstGeom>
          <a:noFill/>
          <a:ln/>
        </p:spPr>
        <p:txBody>
          <a:bodyPr wrap="square" lIns="0" tIns="0" rIns="0" bIns="0" rtlCol="0" anchor="ctr"/>
          <a:lstStyle/>
          <a:p>
            <a:pPr marL="0" indent="0">
              <a:buNone/>
            </a:pPr>
            <a:r>
              <a:rPr lang="en-US" sz="1100" dirty="0">
                <a:solidFill>
                  <a:srgbClr val="5F696E"/>
                </a:solidFill>
                <a:latin typeface="Calibri" pitchFamily="34" charset="0"/>
                <a:ea typeface="Calibri" pitchFamily="34" charset="-122"/>
                <a:cs typeface="Calibri" pitchFamily="34" charset="-120"/>
              </a:rPr>
              <a:t>Farmer’s Market Price &amp; Sales Tracker</a:t>
            </a:r>
            <a:endParaRPr lang="en-US" sz="1100" dirty="0"/>
          </a:p>
        </p:txBody>
      </p:sp>
      <p:sp>
        <p:nvSpPr>
          <p:cNvPr id="5" name="Text 2"/>
          <p:cNvSpPr txBox="1"/>
          <p:nvPr/>
        </p:nvSpPr>
        <p:spPr>
          <a:xfrm>
            <a:off x="457200" y="1371600"/>
            <a:ext cx="11274552" cy="548640"/>
          </a:xfrm>
          <a:prstGeom prst="rect">
            <a:avLst/>
          </a:prstGeom>
          <a:noFill/>
          <a:ln/>
        </p:spPr>
        <p:txBody>
          <a:bodyPr wrap="square" lIns="0" tIns="0" rIns="0" bIns="0" rtlCol="0" anchor="ctr"/>
          <a:lstStyle/>
          <a:p>
            <a:pPr marL="0" indent="0">
              <a:buNone/>
            </a:pPr>
            <a:r>
              <a:rPr lang="en-US" sz="2200" dirty="0">
                <a:solidFill>
                  <a:srgbClr val="222B33"/>
                </a:solidFill>
                <a:latin typeface="Calibri" pitchFamily="34" charset="0"/>
                <a:ea typeface="Calibri" pitchFamily="34" charset="-122"/>
                <a:cs typeface="Calibri" pitchFamily="34" charset="-120"/>
              </a:rPr>
              <a:t>A simple Java program that helps farmers keep track of their crop sales.</a:t>
            </a:r>
            <a:endParaRPr lang="en-US" sz="2200" dirty="0"/>
          </a:p>
        </p:txBody>
      </p:sp>
      <p:sp>
        <p:nvSpPr>
          <p:cNvPr id="6" name="Shape 3"/>
          <p:cNvSpPr/>
          <p:nvPr/>
        </p:nvSpPr>
        <p:spPr>
          <a:xfrm>
            <a:off x="457200" y="2286000"/>
            <a:ext cx="2612898" cy="2743200"/>
          </a:xfrm>
          <a:prstGeom prst="roundRect">
            <a:avLst>
              <a:gd name="adj" fmla="val 4199"/>
            </a:avLst>
          </a:prstGeom>
          <a:solidFill>
            <a:srgbClr val="FFFFFF"/>
          </a:solidFill>
          <a:ln w="9525">
            <a:solidFill>
              <a:srgbClr val="E4E2D8"/>
            </a:solidFill>
            <a:prstDash val="solid"/>
          </a:ln>
          <a:effectLst>
            <a:outerShdw blurRad="101600" dist="25400" dir="5400000" algn="bl" rotWithShape="0">
              <a:srgbClr val="000000">
                <a:alpha val="10000"/>
              </a:srgbClr>
            </a:outerShdw>
          </a:effectLst>
        </p:spPr>
      </p:sp>
      <p:sp>
        <p:nvSpPr>
          <p:cNvPr id="7" name="Shape 4"/>
          <p:cNvSpPr/>
          <p:nvPr/>
        </p:nvSpPr>
        <p:spPr>
          <a:xfrm>
            <a:off x="731520" y="2560320"/>
            <a:ext cx="731520" cy="731520"/>
          </a:xfrm>
          <a:prstGeom prst="ellipse">
            <a:avLst/>
          </a:prstGeom>
          <a:solidFill>
            <a:srgbClr val="2A754A"/>
          </a:solidFill>
          <a:ln w="12700">
            <a:solidFill>
              <a:srgbClr val="2A754A"/>
            </a:solidFill>
            <a:prstDash val="solid"/>
          </a:ln>
        </p:spPr>
      </p:sp>
      <p:pic>
        <p:nvPicPr>
          <p:cNvPr id="8" name="Image 1" descr="preencoded.png"/>
          <p:cNvPicPr>
            <a:picLocks noChangeAspect="1"/>
          </p:cNvPicPr>
          <p:nvPr/>
        </p:nvPicPr>
        <p:blipFill>
          <a:blip r:embed="rId4"/>
          <a:stretch>
            <a:fillRect/>
          </a:stretch>
        </p:blipFill>
        <p:spPr>
          <a:xfrm>
            <a:off x="921715" y="2750515"/>
            <a:ext cx="351130" cy="351130"/>
          </a:xfrm>
          <a:prstGeom prst="rect">
            <a:avLst/>
          </a:prstGeom>
        </p:spPr>
      </p:pic>
      <p:sp>
        <p:nvSpPr>
          <p:cNvPr id="9" name="Text 5"/>
          <p:cNvSpPr txBox="1"/>
          <p:nvPr/>
        </p:nvSpPr>
        <p:spPr>
          <a:xfrm>
            <a:off x="731520" y="3474720"/>
            <a:ext cx="2064258" cy="411480"/>
          </a:xfrm>
          <a:prstGeom prst="rect">
            <a:avLst/>
          </a:prstGeom>
          <a:noFill/>
          <a:ln/>
        </p:spPr>
        <p:txBody>
          <a:bodyPr wrap="square" lIns="0" tIns="0" rIns="0" bIns="0" rtlCol="0" anchor="ctr"/>
          <a:lstStyle/>
          <a:p>
            <a:pPr marL="0" indent="0">
              <a:buNone/>
            </a:pPr>
            <a:r>
              <a:rPr lang="en-US" sz="1900" b="1" dirty="0">
                <a:solidFill>
                  <a:srgbClr val="182B40"/>
                </a:solidFill>
                <a:latin typeface="Cambria" pitchFamily="34" charset="0"/>
                <a:ea typeface="Cambria" pitchFamily="34" charset="-122"/>
                <a:cs typeface="Cambria" pitchFamily="34" charset="-120"/>
              </a:rPr>
              <a:t>Add sales</a:t>
            </a:r>
            <a:endParaRPr lang="en-US" sz="1900" dirty="0"/>
          </a:p>
        </p:txBody>
      </p:sp>
      <p:sp>
        <p:nvSpPr>
          <p:cNvPr id="10" name="Text 6"/>
          <p:cNvSpPr txBox="1"/>
          <p:nvPr/>
        </p:nvSpPr>
        <p:spPr>
          <a:xfrm>
            <a:off x="731520" y="3977640"/>
            <a:ext cx="2064258" cy="914400"/>
          </a:xfrm>
          <a:prstGeom prst="rect">
            <a:avLst/>
          </a:prstGeom>
          <a:noFill/>
          <a:ln/>
        </p:spPr>
        <p:txBody>
          <a:bodyPr wrap="square" lIns="0" tIns="0" rIns="0" bIns="0" rtlCol="0" anchor="t"/>
          <a:lstStyle/>
          <a:p>
            <a:pPr marL="0" indent="0">
              <a:buNone/>
            </a:pPr>
            <a:r>
              <a:rPr lang="en-US" sz="1500" dirty="0">
                <a:solidFill>
                  <a:srgbClr val="222B33"/>
                </a:solidFill>
                <a:latin typeface="Calibri" pitchFamily="34" charset="0"/>
                <a:ea typeface="Calibri" pitchFamily="34" charset="-122"/>
                <a:cs typeface="Calibri" pitchFamily="34" charset="-120"/>
              </a:rPr>
              <a:t>Enter the crop name, kilograms sold and price per kilogram.</a:t>
            </a:r>
            <a:endParaRPr lang="en-US" sz="1500" dirty="0"/>
          </a:p>
        </p:txBody>
      </p:sp>
      <p:sp>
        <p:nvSpPr>
          <p:cNvPr id="11" name="Shape 7"/>
          <p:cNvSpPr/>
          <p:nvPr/>
        </p:nvSpPr>
        <p:spPr>
          <a:xfrm>
            <a:off x="3344418" y="2286000"/>
            <a:ext cx="2612898" cy="2743200"/>
          </a:xfrm>
          <a:prstGeom prst="roundRect">
            <a:avLst>
              <a:gd name="adj" fmla="val 4199"/>
            </a:avLst>
          </a:prstGeom>
          <a:solidFill>
            <a:srgbClr val="FFFFFF"/>
          </a:solidFill>
          <a:ln w="9525">
            <a:solidFill>
              <a:srgbClr val="E4E2D8"/>
            </a:solidFill>
            <a:prstDash val="solid"/>
          </a:ln>
          <a:effectLst>
            <a:outerShdw blurRad="101600" dist="25400" dir="5400000" algn="bl" rotWithShape="0">
              <a:srgbClr val="000000">
                <a:alpha val="10000"/>
              </a:srgbClr>
            </a:outerShdw>
          </a:effectLst>
        </p:spPr>
      </p:sp>
      <p:sp>
        <p:nvSpPr>
          <p:cNvPr id="12" name="Shape 8"/>
          <p:cNvSpPr/>
          <p:nvPr/>
        </p:nvSpPr>
        <p:spPr>
          <a:xfrm>
            <a:off x="3618738" y="2560320"/>
            <a:ext cx="731520" cy="731520"/>
          </a:xfrm>
          <a:prstGeom prst="ellipse">
            <a:avLst/>
          </a:prstGeom>
          <a:solidFill>
            <a:srgbClr val="2A754A"/>
          </a:solidFill>
          <a:ln w="12700">
            <a:solidFill>
              <a:srgbClr val="2A754A"/>
            </a:solidFill>
            <a:prstDash val="solid"/>
          </a:ln>
        </p:spPr>
      </p:sp>
      <p:pic>
        <p:nvPicPr>
          <p:cNvPr id="13" name="Image 2" descr="preencoded.png"/>
          <p:cNvPicPr>
            <a:picLocks noChangeAspect="1"/>
          </p:cNvPicPr>
          <p:nvPr/>
        </p:nvPicPr>
        <p:blipFill>
          <a:blip r:embed="rId5"/>
          <a:stretch>
            <a:fillRect/>
          </a:stretch>
        </p:blipFill>
        <p:spPr>
          <a:xfrm>
            <a:off x="3808933" y="2750515"/>
            <a:ext cx="351130" cy="351130"/>
          </a:xfrm>
          <a:prstGeom prst="rect">
            <a:avLst/>
          </a:prstGeom>
        </p:spPr>
      </p:pic>
      <p:sp>
        <p:nvSpPr>
          <p:cNvPr id="14" name="Text 9"/>
          <p:cNvSpPr txBox="1"/>
          <p:nvPr/>
        </p:nvSpPr>
        <p:spPr>
          <a:xfrm>
            <a:off x="3618738" y="3474720"/>
            <a:ext cx="2064258" cy="411480"/>
          </a:xfrm>
          <a:prstGeom prst="rect">
            <a:avLst/>
          </a:prstGeom>
          <a:noFill/>
          <a:ln/>
        </p:spPr>
        <p:txBody>
          <a:bodyPr wrap="square" lIns="0" tIns="0" rIns="0" bIns="0" rtlCol="0" anchor="ctr"/>
          <a:lstStyle/>
          <a:p>
            <a:pPr marL="0" indent="0">
              <a:buNone/>
            </a:pPr>
            <a:r>
              <a:rPr lang="en-US" sz="1900" b="1" dirty="0">
                <a:solidFill>
                  <a:srgbClr val="182B40"/>
                </a:solidFill>
                <a:latin typeface="Cambria" pitchFamily="34" charset="0"/>
                <a:ea typeface="Cambria" pitchFamily="34" charset="-122"/>
                <a:cs typeface="Cambria" pitchFamily="34" charset="-120"/>
              </a:rPr>
              <a:t>View records</a:t>
            </a:r>
            <a:endParaRPr lang="en-US" sz="1900" dirty="0"/>
          </a:p>
        </p:txBody>
      </p:sp>
      <p:sp>
        <p:nvSpPr>
          <p:cNvPr id="15" name="Text 10"/>
          <p:cNvSpPr txBox="1"/>
          <p:nvPr/>
        </p:nvSpPr>
        <p:spPr>
          <a:xfrm>
            <a:off x="3618738" y="3977640"/>
            <a:ext cx="2064258" cy="914400"/>
          </a:xfrm>
          <a:prstGeom prst="rect">
            <a:avLst/>
          </a:prstGeom>
          <a:noFill/>
          <a:ln/>
        </p:spPr>
        <p:txBody>
          <a:bodyPr wrap="square" lIns="0" tIns="0" rIns="0" bIns="0" rtlCol="0" anchor="t"/>
          <a:lstStyle/>
          <a:p>
            <a:pPr marL="0" indent="0">
              <a:buNone/>
            </a:pPr>
            <a:r>
              <a:rPr lang="en-US" sz="1500" dirty="0">
                <a:solidFill>
                  <a:srgbClr val="222B33"/>
                </a:solidFill>
                <a:latin typeface="Calibri" pitchFamily="34" charset="0"/>
                <a:ea typeface="Calibri" pitchFamily="34" charset="-122"/>
                <a:cs typeface="Calibri" pitchFamily="34" charset="-120"/>
              </a:rPr>
              <a:t>See all the saved sales whenever you need them.</a:t>
            </a:r>
            <a:endParaRPr lang="en-US" sz="1500" dirty="0"/>
          </a:p>
        </p:txBody>
      </p:sp>
      <p:sp>
        <p:nvSpPr>
          <p:cNvPr id="16" name="Shape 11"/>
          <p:cNvSpPr/>
          <p:nvPr/>
        </p:nvSpPr>
        <p:spPr>
          <a:xfrm>
            <a:off x="6231636" y="2286000"/>
            <a:ext cx="2612898" cy="2743200"/>
          </a:xfrm>
          <a:prstGeom prst="roundRect">
            <a:avLst>
              <a:gd name="adj" fmla="val 4199"/>
            </a:avLst>
          </a:prstGeom>
          <a:solidFill>
            <a:srgbClr val="FFFFFF"/>
          </a:solidFill>
          <a:ln w="9525">
            <a:solidFill>
              <a:srgbClr val="E4E2D8"/>
            </a:solidFill>
            <a:prstDash val="solid"/>
          </a:ln>
          <a:effectLst>
            <a:outerShdw blurRad="101600" dist="25400" dir="5400000" algn="bl" rotWithShape="0">
              <a:srgbClr val="000000">
                <a:alpha val="10000"/>
              </a:srgbClr>
            </a:outerShdw>
          </a:effectLst>
        </p:spPr>
      </p:sp>
      <p:sp>
        <p:nvSpPr>
          <p:cNvPr id="17" name="Shape 12"/>
          <p:cNvSpPr/>
          <p:nvPr/>
        </p:nvSpPr>
        <p:spPr>
          <a:xfrm>
            <a:off x="6505956" y="2560320"/>
            <a:ext cx="731520" cy="731520"/>
          </a:xfrm>
          <a:prstGeom prst="ellipse">
            <a:avLst/>
          </a:prstGeom>
          <a:solidFill>
            <a:srgbClr val="2A754A"/>
          </a:solidFill>
          <a:ln w="12700">
            <a:solidFill>
              <a:srgbClr val="2A754A"/>
            </a:solidFill>
            <a:prstDash val="solid"/>
          </a:ln>
        </p:spPr>
      </p:sp>
      <p:pic>
        <p:nvPicPr>
          <p:cNvPr id="18" name="Image 3" descr="preencoded.png"/>
          <p:cNvPicPr>
            <a:picLocks noChangeAspect="1"/>
          </p:cNvPicPr>
          <p:nvPr/>
        </p:nvPicPr>
        <p:blipFill>
          <a:blip r:embed="rId6"/>
          <a:stretch>
            <a:fillRect/>
          </a:stretch>
        </p:blipFill>
        <p:spPr>
          <a:xfrm>
            <a:off x="6696151" y="2750515"/>
            <a:ext cx="351130" cy="351130"/>
          </a:xfrm>
          <a:prstGeom prst="rect">
            <a:avLst/>
          </a:prstGeom>
        </p:spPr>
      </p:pic>
      <p:sp>
        <p:nvSpPr>
          <p:cNvPr id="19" name="Text 13"/>
          <p:cNvSpPr txBox="1"/>
          <p:nvPr/>
        </p:nvSpPr>
        <p:spPr>
          <a:xfrm>
            <a:off x="6505956" y="3474720"/>
            <a:ext cx="2064258" cy="411480"/>
          </a:xfrm>
          <a:prstGeom prst="rect">
            <a:avLst/>
          </a:prstGeom>
          <a:noFill/>
          <a:ln/>
        </p:spPr>
        <p:txBody>
          <a:bodyPr wrap="square" lIns="0" tIns="0" rIns="0" bIns="0" rtlCol="0" anchor="ctr"/>
          <a:lstStyle/>
          <a:p>
            <a:pPr marL="0" indent="0">
              <a:buNone/>
            </a:pPr>
            <a:r>
              <a:rPr lang="en-US" sz="1900" b="1" dirty="0">
                <a:solidFill>
                  <a:srgbClr val="182B40"/>
                </a:solidFill>
                <a:latin typeface="Cambria" pitchFamily="34" charset="0"/>
                <a:ea typeface="Cambria" pitchFamily="34" charset="-122"/>
                <a:cs typeface="Cambria" pitchFamily="34" charset="-120"/>
              </a:rPr>
              <a:t>Highest price</a:t>
            </a:r>
            <a:endParaRPr lang="en-US" sz="1900" dirty="0"/>
          </a:p>
        </p:txBody>
      </p:sp>
      <p:sp>
        <p:nvSpPr>
          <p:cNvPr id="20" name="Text 14"/>
          <p:cNvSpPr txBox="1"/>
          <p:nvPr/>
        </p:nvSpPr>
        <p:spPr>
          <a:xfrm>
            <a:off x="6505956" y="3977640"/>
            <a:ext cx="2064258" cy="914400"/>
          </a:xfrm>
          <a:prstGeom prst="rect">
            <a:avLst/>
          </a:prstGeom>
          <a:noFill/>
          <a:ln/>
        </p:spPr>
        <p:txBody>
          <a:bodyPr wrap="square" lIns="0" tIns="0" rIns="0" bIns="0" rtlCol="0" anchor="t"/>
          <a:lstStyle/>
          <a:p>
            <a:pPr marL="0" indent="0">
              <a:buNone/>
            </a:pPr>
            <a:r>
              <a:rPr lang="en-US" sz="1500" dirty="0">
                <a:solidFill>
                  <a:srgbClr val="222B33"/>
                </a:solidFill>
                <a:latin typeface="Calibri" pitchFamily="34" charset="0"/>
                <a:ea typeface="Calibri" pitchFamily="34" charset="-122"/>
                <a:cs typeface="Calibri" pitchFamily="34" charset="-120"/>
              </a:rPr>
              <a:t>Find the crop with the highest selling price.</a:t>
            </a:r>
            <a:endParaRPr lang="en-US" sz="1500" dirty="0"/>
          </a:p>
        </p:txBody>
      </p:sp>
      <p:sp>
        <p:nvSpPr>
          <p:cNvPr id="21" name="Shape 15"/>
          <p:cNvSpPr/>
          <p:nvPr/>
        </p:nvSpPr>
        <p:spPr>
          <a:xfrm>
            <a:off x="9118854" y="2286000"/>
            <a:ext cx="2612898" cy="2743200"/>
          </a:xfrm>
          <a:prstGeom prst="roundRect">
            <a:avLst>
              <a:gd name="adj" fmla="val 4199"/>
            </a:avLst>
          </a:prstGeom>
          <a:solidFill>
            <a:srgbClr val="FFFFFF"/>
          </a:solidFill>
          <a:ln w="9525">
            <a:solidFill>
              <a:srgbClr val="E4E2D8"/>
            </a:solidFill>
            <a:prstDash val="solid"/>
          </a:ln>
          <a:effectLst>
            <a:outerShdw blurRad="101600" dist="25400" dir="5400000" algn="bl" rotWithShape="0">
              <a:srgbClr val="000000">
                <a:alpha val="10000"/>
              </a:srgbClr>
            </a:outerShdw>
          </a:effectLst>
        </p:spPr>
      </p:sp>
      <p:sp>
        <p:nvSpPr>
          <p:cNvPr id="22" name="Shape 16"/>
          <p:cNvSpPr/>
          <p:nvPr/>
        </p:nvSpPr>
        <p:spPr>
          <a:xfrm>
            <a:off x="9393174" y="2560320"/>
            <a:ext cx="731520" cy="731520"/>
          </a:xfrm>
          <a:prstGeom prst="ellipse">
            <a:avLst/>
          </a:prstGeom>
          <a:solidFill>
            <a:srgbClr val="2A754A"/>
          </a:solidFill>
          <a:ln w="12700">
            <a:solidFill>
              <a:srgbClr val="2A754A"/>
            </a:solidFill>
            <a:prstDash val="solid"/>
          </a:ln>
        </p:spPr>
      </p:sp>
      <p:pic>
        <p:nvPicPr>
          <p:cNvPr id="23" name="Image 4" descr="preencoded.png"/>
          <p:cNvPicPr>
            <a:picLocks noChangeAspect="1"/>
          </p:cNvPicPr>
          <p:nvPr/>
        </p:nvPicPr>
        <p:blipFill>
          <a:blip r:embed="rId7"/>
          <a:stretch>
            <a:fillRect/>
          </a:stretch>
        </p:blipFill>
        <p:spPr>
          <a:xfrm>
            <a:off x="9583369" y="2750515"/>
            <a:ext cx="351130" cy="351130"/>
          </a:xfrm>
          <a:prstGeom prst="rect">
            <a:avLst/>
          </a:prstGeom>
        </p:spPr>
      </p:pic>
      <p:sp>
        <p:nvSpPr>
          <p:cNvPr id="24" name="Text 17"/>
          <p:cNvSpPr txBox="1"/>
          <p:nvPr/>
        </p:nvSpPr>
        <p:spPr>
          <a:xfrm>
            <a:off x="9393174" y="3474720"/>
            <a:ext cx="2064258" cy="411480"/>
          </a:xfrm>
          <a:prstGeom prst="rect">
            <a:avLst/>
          </a:prstGeom>
          <a:noFill/>
          <a:ln/>
        </p:spPr>
        <p:txBody>
          <a:bodyPr wrap="square" lIns="0" tIns="0" rIns="0" bIns="0" rtlCol="0" anchor="ctr"/>
          <a:lstStyle/>
          <a:p>
            <a:pPr marL="0" indent="0">
              <a:buNone/>
            </a:pPr>
            <a:r>
              <a:rPr lang="en-US" sz="1900" b="1" dirty="0">
                <a:solidFill>
                  <a:srgbClr val="182B40"/>
                </a:solidFill>
                <a:latin typeface="Cambria" pitchFamily="34" charset="0"/>
                <a:ea typeface="Cambria" pitchFamily="34" charset="-122"/>
                <a:cs typeface="Cambria" pitchFamily="34" charset="-120"/>
              </a:rPr>
              <a:t>Money summary</a:t>
            </a:r>
            <a:endParaRPr lang="en-US" sz="1900" dirty="0"/>
          </a:p>
        </p:txBody>
      </p:sp>
      <p:sp>
        <p:nvSpPr>
          <p:cNvPr id="25" name="Text 18"/>
          <p:cNvSpPr txBox="1"/>
          <p:nvPr/>
        </p:nvSpPr>
        <p:spPr>
          <a:xfrm>
            <a:off x="9393174" y="3977640"/>
            <a:ext cx="2064258" cy="914400"/>
          </a:xfrm>
          <a:prstGeom prst="rect">
            <a:avLst/>
          </a:prstGeom>
          <a:noFill/>
          <a:ln/>
        </p:spPr>
        <p:txBody>
          <a:bodyPr wrap="square" lIns="0" tIns="0" rIns="0" bIns="0" rtlCol="0" anchor="t"/>
          <a:lstStyle/>
          <a:p>
            <a:pPr marL="0" indent="0">
              <a:buNone/>
            </a:pPr>
            <a:r>
              <a:rPr lang="en-US" sz="1500" dirty="0">
                <a:solidFill>
                  <a:srgbClr val="222B33"/>
                </a:solidFill>
                <a:latin typeface="Calibri" pitchFamily="34" charset="0"/>
                <a:ea typeface="Calibri" pitchFamily="34" charset="-122"/>
                <a:cs typeface="Calibri" pitchFamily="34" charset="-120"/>
              </a:rPr>
              <a:t>Get the total revenue, expenses and net profit.</a:t>
            </a:r>
            <a:endParaRPr lang="en-US" sz="1500" dirty="0"/>
          </a:p>
        </p:txBody>
      </p:sp>
      <p:sp>
        <p:nvSpPr>
          <p:cNvPr id="26" name="Text 19"/>
          <p:cNvSpPr txBox="1"/>
          <p:nvPr/>
        </p:nvSpPr>
        <p:spPr>
          <a:xfrm>
            <a:off x="457200" y="5440680"/>
            <a:ext cx="1371600" cy="457200"/>
          </a:xfrm>
          <a:prstGeom prst="rect">
            <a:avLst/>
          </a:prstGeom>
          <a:noFill/>
          <a:ln/>
        </p:spPr>
        <p:txBody>
          <a:bodyPr wrap="square" lIns="0" tIns="0" rIns="0" bIns="0" rtlCol="0" anchor="ctr"/>
          <a:lstStyle/>
          <a:p>
            <a:pPr marL="0" indent="0">
              <a:buNone/>
            </a:pPr>
            <a:r>
              <a:rPr lang="en-US" sz="1600" b="1" dirty="0">
                <a:solidFill>
                  <a:srgbClr val="182B40"/>
                </a:solidFill>
                <a:latin typeface="Calibri" pitchFamily="34" charset="0"/>
                <a:ea typeface="Calibri" pitchFamily="34" charset="-122"/>
                <a:cs typeface="Calibri" pitchFamily="34" charset="-120"/>
              </a:rPr>
              <a:t>Built with:</a:t>
            </a:r>
            <a:endParaRPr lang="en-US" sz="1600" dirty="0"/>
          </a:p>
        </p:txBody>
      </p:sp>
      <p:sp>
        <p:nvSpPr>
          <p:cNvPr id="27" name="Text 20"/>
          <p:cNvSpPr txBox="1"/>
          <p:nvPr/>
        </p:nvSpPr>
        <p:spPr>
          <a:xfrm>
            <a:off x="1874520" y="5440680"/>
            <a:ext cx="941832" cy="457200"/>
          </a:xfrm>
          <a:prstGeom prst="roundRect">
            <a:avLst>
              <a:gd name="adj" fmla="val 16000"/>
            </a:avLst>
          </a:prstGeom>
          <a:solidFill>
            <a:srgbClr val="E3EEE7"/>
          </a:solidFill>
          <a:ln>
            <a:solidFill>
              <a:srgbClr val="E3EEE7"/>
            </a:solidFill>
          </a:ln>
        </p:spPr>
        <p:txBody>
          <a:bodyPr wrap="square" lIns="0" tIns="0" rIns="0" bIns="0" rtlCol="0" anchor="ctr"/>
          <a:lstStyle/>
          <a:p>
            <a:pPr marL="0" indent="0" algn="ctr">
              <a:buNone/>
            </a:pPr>
            <a:r>
              <a:rPr lang="en-US" sz="1400" b="1" dirty="0">
                <a:solidFill>
                  <a:srgbClr val="2A754A"/>
                </a:solidFill>
                <a:latin typeface="Calibri" pitchFamily="34" charset="0"/>
                <a:ea typeface="Calibri" pitchFamily="34" charset="-122"/>
                <a:cs typeface="Calibri" pitchFamily="34" charset="-120"/>
              </a:rPr>
              <a:t>Arrays</a:t>
            </a:r>
            <a:endParaRPr lang="en-US" sz="1400" dirty="0"/>
          </a:p>
        </p:txBody>
      </p:sp>
      <p:sp>
        <p:nvSpPr>
          <p:cNvPr id="28" name="Text 21"/>
          <p:cNvSpPr txBox="1"/>
          <p:nvPr/>
        </p:nvSpPr>
        <p:spPr>
          <a:xfrm>
            <a:off x="2953512" y="5440680"/>
            <a:ext cx="845820" cy="457200"/>
          </a:xfrm>
          <a:prstGeom prst="roundRect">
            <a:avLst>
              <a:gd name="adj" fmla="val 16000"/>
            </a:avLst>
          </a:prstGeom>
          <a:solidFill>
            <a:srgbClr val="E3EEE7"/>
          </a:solidFill>
          <a:ln>
            <a:solidFill>
              <a:srgbClr val="E3EEE7"/>
            </a:solidFill>
          </a:ln>
        </p:spPr>
        <p:txBody>
          <a:bodyPr wrap="square" lIns="0" tIns="0" rIns="0" bIns="0" rtlCol="0" anchor="ctr"/>
          <a:lstStyle/>
          <a:p>
            <a:pPr marL="0" indent="0" algn="ctr">
              <a:buNone/>
            </a:pPr>
            <a:r>
              <a:rPr lang="en-US" sz="1400" b="1" dirty="0">
                <a:solidFill>
                  <a:srgbClr val="2A754A"/>
                </a:solidFill>
                <a:latin typeface="Calibri" pitchFamily="34" charset="0"/>
                <a:ea typeface="Calibri" pitchFamily="34" charset="-122"/>
                <a:cs typeface="Calibri" pitchFamily="34" charset="-120"/>
              </a:rPr>
              <a:t>Loops</a:t>
            </a:r>
            <a:endParaRPr lang="en-US" sz="1400" dirty="0"/>
          </a:p>
        </p:txBody>
      </p:sp>
      <p:sp>
        <p:nvSpPr>
          <p:cNvPr id="29" name="Text 22"/>
          <p:cNvSpPr txBox="1"/>
          <p:nvPr/>
        </p:nvSpPr>
        <p:spPr>
          <a:xfrm>
            <a:off x="3936492" y="5440680"/>
            <a:ext cx="1037844" cy="457200"/>
          </a:xfrm>
          <a:prstGeom prst="roundRect">
            <a:avLst>
              <a:gd name="adj" fmla="val 16000"/>
            </a:avLst>
          </a:prstGeom>
          <a:solidFill>
            <a:srgbClr val="E3EEE7"/>
          </a:solidFill>
          <a:ln>
            <a:solidFill>
              <a:srgbClr val="E3EEE7"/>
            </a:solidFill>
          </a:ln>
        </p:spPr>
        <p:txBody>
          <a:bodyPr wrap="square" lIns="0" tIns="0" rIns="0" bIns="0" rtlCol="0" anchor="ctr"/>
          <a:lstStyle/>
          <a:p>
            <a:pPr marL="0" indent="0" algn="ctr">
              <a:buNone/>
            </a:pPr>
            <a:r>
              <a:rPr lang="en-US" sz="1400" b="1" dirty="0">
                <a:solidFill>
                  <a:srgbClr val="2A754A"/>
                </a:solidFill>
                <a:latin typeface="Calibri" pitchFamily="34" charset="0"/>
                <a:ea typeface="Calibri" pitchFamily="34" charset="-122"/>
                <a:cs typeface="Calibri" pitchFamily="34" charset="-120"/>
              </a:rPr>
              <a:t>Methods</a:t>
            </a:r>
            <a:endParaRPr lang="en-US" sz="1400" dirty="0"/>
          </a:p>
        </p:txBody>
      </p:sp>
      <p:sp>
        <p:nvSpPr>
          <p:cNvPr id="30" name="Text 23"/>
          <p:cNvSpPr txBox="1"/>
          <p:nvPr/>
        </p:nvSpPr>
        <p:spPr>
          <a:xfrm>
            <a:off x="5111496" y="5440680"/>
            <a:ext cx="1613916" cy="457200"/>
          </a:xfrm>
          <a:prstGeom prst="roundRect">
            <a:avLst>
              <a:gd name="adj" fmla="val 16000"/>
            </a:avLst>
          </a:prstGeom>
          <a:solidFill>
            <a:srgbClr val="E3EEE7"/>
          </a:solidFill>
          <a:ln>
            <a:solidFill>
              <a:srgbClr val="E3EEE7"/>
            </a:solidFill>
          </a:ln>
        </p:spPr>
        <p:txBody>
          <a:bodyPr wrap="square" lIns="0" tIns="0" rIns="0" bIns="0" rtlCol="0" anchor="ctr"/>
          <a:lstStyle/>
          <a:p>
            <a:pPr marL="0" indent="0" algn="ctr">
              <a:buNone/>
            </a:pPr>
            <a:r>
              <a:rPr lang="en-US" sz="1400" b="1" dirty="0">
                <a:solidFill>
                  <a:srgbClr val="2A754A"/>
                </a:solidFill>
                <a:latin typeface="Calibri" pitchFamily="34" charset="0"/>
                <a:ea typeface="Calibri" pitchFamily="34" charset="-122"/>
                <a:cs typeface="Calibri" pitchFamily="34" charset="-120"/>
              </a:rPr>
              <a:t>If statements</a:t>
            </a:r>
            <a:endParaRPr lang="en-US" sz="1400" dirty="0"/>
          </a:p>
        </p:txBody>
      </p:sp>
      <p:sp>
        <p:nvSpPr>
          <p:cNvPr id="31" name="Text 24"/>
          <p:cNvSpPr txBox="1"/>
          <p:nvPr/>
        </p:nvSpPr>
        <p:spPr>
          <a:xfrm>
            <a:off x="6862572" y="5440680"/>
            <a:ext cx="1517904" cy="457200"/>
          </a:xfrm>
          <a:prstGeom prst="roundRect">
            <a:avLst>
              <a:gd name="adj" fmla="val 16000"/>
            </a:avLst>
          </a:prstGeom>
          <a:solidFill>
            <a:srgbClr val="E3EEE7"/>
          </a:solidFill>
          <a:ln>
            <a:solidFill>
              <a:srgbClr val="E3EEE7"/>
            </a:solidFill>
          </a:ln>
        </p:spPr>
        <p:txBody>
          <a:bodyPr wrap="square" lIns="0" tIns="0" rIns="0" bIns="0" rtlCol="0" anchor="ctr"/>
          <a:lstStyle/>
          <a:p>
            <a:pPr marL="0" indent="0" algn="ctr">
              <a:buNone/>
            </a:pPr>
            <a:r>
              <a:rPr lang="en-US" sz="1400" b="1" dirty="0">
                <a:solidFill>
                  <a:srgbClr val="2A754A"/>
                </a:solidFill>
                <a:latin typeface="Calibri" pitchFamily="34" charset="0"/>
                <a:ea typeface="Calibri" pitchFamily="34" charset="-122"/>
                <a:cs typeface="Calibri" pitchFamily="34" charset="-120"/>
              </a:rPr>
              <a:t>Switch cases</a:t>
            </a:r>
            <a:endParaRPr lang="en-US" sz="1400" dirty="0"/>
          </a:p>
        </p:txBody>
      </p:sp>
      <p:sp>
        <p:nvSpPr>
          <p:cNvPr id="32" name="Text 25"/>
          <p:cNvSpPr txBox="1"/>
          <p:nvPr/>
        </p:nvSpPr>
        <p:spPr>
          <a:xfrm>
            <a:off x="8517636" y="5440680"/>
            <a:ext cx="1037844" cy="457200"/>
          </a:xfrm>
          <a:prstGeom prst="roundRect">
            <a:avLst>
              <a:gd name="adj" fmla="val 16000"/>
            </a:avLst>
          </a:prstGeom>
          <a:solidFill>
            <a:srgbClr val="E3EEE7"/>
          </a:solidFill>
          <a:ln>
            <a:solidFill>
              <a:srgbClr val="E3EEE7"/>
            </a:solidFill>
          </a:ln>
        </p:spPr>
        <p:txBody>
          <a:bodyPr wrap="square" lIns="0" tIns="0" rIns="0" bIns="0" rtlCol="0" anchor="ctr"/>
          <a:lstStyle/>
          <a:p>
            <a:pPr marL="0" indent="0" algn="ctr">
              <a:buNone/>
            </a:pPr>
            <a:r>
              <a:rPr lang="en-US" sz="1400" b="1" dirty="0">
                <a:solidFill>
                  <a:srgbClr val="2A754A"/>
                </a:solidFill>
                <a:latin typeface="Calibri" pitchFamily="34" charset="0"/>
                <a:ea typeface="Calibri" pitchFamily="34" charset="-122"/>
                <a:cs typeface="Calibri" pitchFamily="34" charset="-120"/>
              </a:rPr>
              <a:t>Scanner</a:t>
            </a:r>
            <a:endParaRPr lang="en-US" sz="1400" dirty="0"/>
          </a:p>
        </p:txBody>
      </p:sp>
      <p:sp>
        <p:nvSpPr>
          <p:cNvPr id="33" name="Slide Number Placeholder 0"/>
          <p:cNvSpPr>
            <a:spLocks noGrp="1"/>
          </p:cNvSpPr>
          <p:nvPr>
            <p:ph type="sldNum" sz="quarter" idx="4294967295"/>
          </p:nvPr>
        </p:nvSpPr>
        <p:spPr>
          <a:xfrm>
            <a:off x="11247120" y="6382512"/>
            <a:ext cx="48463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F696E"/>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7F2"/>
        </a:solidFill>
        <a:effectLst/>
      </p:bgPr>
    </p:bg>
    <p:spTree>
      <p:nvGrpSpPr>
        <p:cNvPr id="1" name=""/>
        <p:cNvGrpSpPr/>
        <p:nvPr/>
      </p:nvGrpSpPr>
      <p:grpSpPr>
        <a:xfrm>
          <a:off x="0" y="0"/>
          <a:ext cx="0" cy="0"/>
          <a:chOff x="0" y="0"/>
          <a:chExt cx="0" cy="0"/>
        </a:xfrm>
      </p:grpSpPr>
      <p:pic>
        <p:nvPicPr>
          <p:cNvPr id="2" name="Image 0" descr="/home/claude/orig_x/ppt/media/image1.png"/>
          <p:cNvPicPr>
            <a:picLocks noChangeAspect="1"/>
          </p:cNvPicPr>
          <p:nvPr/>
        </p:nvPicPr>
        <p:blipFill>
          <a:blip r:embed="rId3"/>
          <a:stretch>
            <a:fillRect/>
          </a:stretch>
        </p:blipFill>
        <p:spPr>
          <a:xfrm>
            <a:off x="457200" y="274320"/>
            <a:ext cx="1097280" cy="815645"/>
          </a:xfrm>
          <a:prstGeom prst="rect">
            <a:avLst/>
          </a:prstGeom>
        </p:spPr>
      </p:pic>
      <p:sp>
        <p:nvSpPr>
          <p:cNvPr id="3" name="Text 0"/>
          <p:cNvSpPr txBox="1"/>
          <p:nvPr/>
        </p:nvSpPr>
        <p:spPr>
          <a:xfrm>
            <a:off x="1783080" y="411480"/>
            <a:ext cx="9966960" cy="685800"/>
          </a:xfrm>
          <a:prstGeom prst="rect">
            <a:avLst/>
          </a:prstGeom>
          <a:noFill/>
          <a:ln/>
        </p:spPr>
        <p:txBody>
          <a:bodyPr wrap="square" lIns="0" tIns="0" rIns="0" bIns="0" rtlCol="0" anchor="ctr"/>
          <a:lstStyle/>
          <a:p>
            <a:pPr marL="0" indent="0" algn="l">
              <a:buNone/>
            </a:pPr>
            <a:r>
              <a:rPr lang="en-US" sz="3600" b="1" dirty="0">
                <a:solidFill>
                  <a:srgbClr val="182B40"/>
                </a:solidFill>
                <a:latin typeface="Cambria" pitchFamily="34" charset="0"/>
                <a:ea typeface="Cambria" pitchFamily="34" charset="-122"/>
                <a:cs typeface="Cambria" pitchFamily="34" charset="-120"/>
              </a:rPr>
              <a:t>Understanding the Problem Statement</a:t>
            </a:r>
            <a:endParaRPr lang="en-US" sz="3600" dirty="0"/>
          </a:p>
        </p:txBody>
      </p:sp>
      <p:sp>
        <p:nvSpPr>
          <p:cNvPr id="4" name="Text 1"/>
          <p:cNvSpPr txBox="1"/>
          <p:nvPr/>
        </p:nvSpPr>
        <p:spPr>
          <a:xfrm>
            <a:off x="457200" y="6382512"/>
            <a:ext cx="5486400" cy="274320"/>
          </a:xfrm>
          <a:prstGeom prst="rect">
            <a:avLst/>
          </a:prstGeom>
          <a:noFill/>
          <a:ln/>
        </p:spPr>
        <p:txBody>
          <a:bodyPr wrap="square" lIns="0" tIns="0" rIns="0" bIns="0" rtlCol="0" anchor="ctr"/>
          <a:lstStyle/>
          <a:p>
            <a:pPr marL="0" indent="0">
              <a:buNone/>
            </a:pPr>
            <a:r>
              <a:rPr lang="en-US" sz="1100" dirty="0">
                <a:solidFill>
                  <a:srgbClr val="5F696E"/>
                </a:solidFill>
                <a:latin typeface="Calibri" pitchFamily="34" charset="0"/>
                <a:ea typeface="Calibri" pitchFamily="34" charset="-122"/>
                <a:cs typeface="Calibri" pitchFamily="34" charset="-120"/>
              </a:rPr>
              <a:t>Farmer’s Market Price &amp; Sales Tracker</a:t>
            </a:r>
            <a:endParaRPr lang="en-US" sz="1100" dirty="0"/>
          </a:p>
        </p:txBody>
      </p:sp>
      <p:sp>
        <p:nvSpPr>
          <p:cNvPr id="5" name="Shape 2"/>
          <p:cNvSpPr/>
          <p:nvPr/>
        </p:nvSpPr>
        <p:spPr>
          <a:xfrm>
            <a:off x="457200" y="1463040"/>
            <a:ext cx="5394960" cy="3611880"/>
          </a:xfrm>
          <a:prstGeom prst="roundRect">
            <a:avLst>
              <a:gd name="adj" fmla="val 3038"/>
            </a:avLst>
          </a:prstGeom>
          <a:solidFill>
            <a:srgbClr val="FFFFFF"/>
          </a:solidFill>
          <a:ln w="9525">
            <a:solidFill>
              <a:srgbClr val="E4E2D8"/>
            </a:solidFill>
            <a:prstDash val="solid"/>
          </a:ln>
          <a:effectLst>
            <a:outerShdw blurRad="101600" dist="25400" dir="5400000" algn="bl" rotWithShape="0">
              <a:srgbClr val="000000">
                <a:alpha val="10000"/>
              </a:srgbClr>
            </a:outerShdw>
          </a:effectLst>
        </p:spPr>
      </p:sp>
      <p:sp>
        <p:nvSpPr>
          <p:cNvPr id="6" name="Shape 3"/>
          <p:cNvSpPr/>
          <p:nvPr/>
        </p:nvSpPr>
        <p:spPr>
          <a:xfrm>
            <a:off x="777240" y="1737360"/>
            <a:ext cx="594360" cy="594360"/>
          </a:xfrm>
          <a:prstGeom prst="ellipse">
            <a:avLst/>
          </a:prstGeom>
          <a:solidFill>
            <a:srgbClr val="2A754A"/>
          </a:solidFill>
          <a:ln w="12700">
            <a:solidFill>
              <a:srgbClr val="2A754A"/>
            </a:solidFill>
            <a:prstDash val="solid"/>
          </a:ln>
        </p:spPr>
      </p:sp>
      <p:pic>
        <p:nvPicPr>
          <p:cNvPr id="7" name="Image 1" descr="preencoded.png"/>
          <p:cNvPicPr>
            <a:picLocks noChangeAspect="1"/>
          </p:cNvPicPr>
          <p:nvPr/>
        </p:nvPicPr>
        <p:blipFill>
          <a:blip r:embed="rId4"/>
          <a:stretch>
            <a:fillRect/>
          </a:stretch>
        </p:blipFill>
        <p:spPr>
          <a:xfrm>
            <a:off x="931774" y="1891894"/>
            <a:ext cx="285293" cy="285293"/>
          </a:xfrm>
          <a:prstGeom prst="rect">
            <a:avLst/>
          </a:prstGeom>
        </p:spPr>
      </p:pic>
      <p:sp>
        <p:nvSpPr>
          <p:cNvPr id="8" name="Text 4"/>
          <p:cNvSpPr txBox="1"/>
          <p:nvPr/>
        </p:nvSpPr>
        <p:spPr>
          <a:xfrm>
            <a:off x="1554480" y="1737360"/>
            <a:ext cx="4023360" cy="594360"/>
          </a:xfrm>
          <a:prstGeom prst="rect">
            <a:avLst/>
          </a:prstGeom>
          <a:noFill/>
          <a:ln/>
        </p:spPr>
        <p:txBody>
          <a:bodyPr wrap="square" lIns="0" tIns="0" rIns="0" bIns="0" rtlCol="0" anchor="ctr"/>
          <a:lstStyle/>
          <a:p>
            <a:pPr marL="0" indent="0">
              <a:buNone/>
            </a:pPr>
            <a:r>
              <a:rPr lang="en-US" sz="2400" b="1" dirty="0">
                <a:solidFill>
                  <a:srgbClr val="182B40"/>
                </a:solidFill>
                <a:latin typeface="Cambria" pitchFamily="34" charset="0"/>
                <a:ea typeface="Cambria" pitchFamily="34" charset="-122"/>
                <a:cs typeface="Cambria" pitchFamily="34" charset="-120"/>
              </a:rPr>
              <a:t>The problem</a:t>
            </a:r>
            <a:endParaRPr lang="en-US" sz="2400" dirty="0"/>
          </a:p>
        </p:txBody>
      </p:sp>
      <p:sp>
        <p:nvSpPr>
          <p:cNvPr id="9" name="Text 5"/>
          <p:cNvSpPr txBox="1"/>
          <p:nvPr/>
        </p:nvSpPr>
        <p:spPr>
          <a:xfrm>
            <a:off x="777240" y="2606040"/>
            <a:ext cx="4754880" cy="22860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22B33"/>
                </a:solidFill>
                <a:latin typeface="Calibri" pitchFamily="34" charset="0"/>
                <a:ea typeface="Calibri" pitchFamily="34" charset="-122"/>
                <a:cs typeface="Calibri" pitchFamily="34" charset="-120"/>
              </a:rPr>
              <a:t>Farmers sell many different crops every day.</a:t>
            </a:r>
            <a:endParaRPr lang="en-US" sz="1800" dirty="0"/>
          </a:p>
          <a:p>
            <a:pPr marL="342900" indent="-342900">
              <a:spcAft>
                <a:spcPts val="1200"/>
              </a:spcAft>
              <a:buSzPct val="100000"/>
              <a:buChar char="•"/>
            </a:pPr>
            <a:r>
              <a:rPr lang="en-US" sz="1800" dirty="0">
                <a:solidFill>
                  <a:srgbClr val="222B33"/>
                </a:solidFill>
                <a:latin typeface="Calibri" pitchFamily="34" charset="0"/>
                <a:ea typeface="Calibri" pitchFamily="34" charset="-122"/>
                <a:cs typeface="Calibri" pitchFamily="34" charset="-120"/>
              </a:rPr>
              <a:t>Writing every sale in a notebook is slow and hard.</a:t>
            </a:r>
            <a:endParaRPr lang="en-US" sz="1800" dirty="0"/>
          </a:p>
          <a:p>
            <a:pPr marL="342900" indent="-342900">
              <a:spcAft>
                <a:spcPts val="1200"/>
              </a:spcAft>
              <a:buSzPct val="100000"/>
              <a:buChar char="•"/>
            </a:pPr>
            <a:r>
              <a:rPr lang="en-US" sz="1800" dirty="0">
                <a:solidFill>
                  <a:srgbClr val="222B33"/>
                </a:solidFill>
                <a:latin typeface="Calibri" pitchFamily="34" charset="0"/>
                <a:ea typeface="Calibri" pitchFamily="34" charset="-122"/>
                <a:cs typeface="Calibri" pitchFamily="34" charset="-120"/>
              </a:rPr>
              <a:t>It is not easy to work out the total money earned.</a:t>
            </a:r>
            <a:endParaRPr lang="en-US" sz="1800" dirty="0"/>
          </a:p>
        </p:txBody>
      </p:sp>
      <p:sp>
        <p:nvSpPr>
          <p:cNvPr id="10" name="Shape 6"/>
          <p:cNvSpPr/>
          <p:nvPr/>
        </p:nvSpPr>
        <p:spPr>
          <a:xfrm>
            <a:off x="6336792" y="1463040"/>
            <a:ext cx="5394960" cy="3611880"/>
          </a:xfrm>
          <a:prstGeom prst="roundRect">
            <a:avLst>
              <a:gd name="adj" fmla="val 3038"/>
            </a:avLst>
          </a:prstGeom>
          <a:solidFill>
            <a:srgbClr val="182B40"/>
          </a:solidFill>
          <a:ln w="9525">
            <a:solidFill>
              <a:srgbClr val="E4E2D8"/>
            </a:solidFill>
            <a:prstDash val="solid"/>
          </a:ln>
          <a:effectLst>
            <a:outerShdw blurRad="101600" dist="25400" dir="5400000" algn="bl" rotWithShape="0">
              <a:srgbClr val="000000">
                <a:alpha val="10000"/>
              </a:srgbClr>
            </a:outerShdw>
          </a:effectLst>
        </p:spPr>
      </p:sp>
      <p:sp>
        <p:nvSpPr>
          <p:cNvPr id="11" name="Shape 7"/>
          <p:cNvSpPr/>
          <p:nvPr/>
        </p:nvSpPr>
        <p:spPr>
          <a:xfrm>
            <a:off x="6656832" y="1737360"/>
            <a:ext cx="594360" cy="594360"/>
          </a:xfrm>
          <a:prstGeom prst="ellipse">
            <a:avLst/>
          </a:prstGeom>
          <a:solidFill>
            <a:srgbClr val="E3EEE7"/>
          </a:solidFill>
          <a:ln w="12700">
            <a:solidFill>
              <a:srgbClr val="E3EEE7"/>
            </a:solidFill>
            <a:prstDash val="solid"/>
          </a:ln>
        </p:spPr>
      </p:sp>
      <p:pic>
        <p:nvPicPr>
          <p:cNvPr id="12" name="Image 2" descr="preencoded.png"/>
          <p:cNvPicPr>
            <a:picLocks noChangeAspect="1"/>
          </p:cNvPicPr>
          <p:nvPr/>
        </p:nvPicPr>
        <p:blipFill>
          <a:blip r:embed="rId5"/>
          <a:stretch>
            <a:fillRect/>
          </a:stretch>
        </p:blipFill>
        <p:spPr>
          <a:xfrm>
            <a:off x="6811366" y="1891894"/>
            <a:ext cx="285293" cy="285293"/>
          </a:xfrm>
          <a:prstGeom prst="rect">
            <a:avLst/>
          </a:prstGeom>
        </p:spPr>
      </p:pic>
      <p:sp>
        <p:nvSpPr>
          <p:cNvPr id="13" name="Text 8"/>
          <p:cNvSpPr txBox="1"/>
          <p:nvPr/>
        </p:nvSpPr>
        <p:spPr>
          <a:xfrm>
            <a:off x="7434072" y="1737360"/>
            <a:ext cx="4023360" cy="59436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Our solution</a:t>
            </a:r>
            <a:endParaRPr lang="en-US" sz="2400" dirty="0"/>
          </a:p>
        </p:txBody>
      </p:sp>
      <p:sp>
        <p:nvSpPr>
          <p:cNvPr id="14" name="Text 9"/>
          <p:cNvSpPr txBox="1"/>
          <p:nvPr/>
        </p:nvSpPr>
        <p:spPr>
          <a:xfrm>
            <a:off x="6656832" y="2606040"/>
            <a:ext cx="4754880" cy="22860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FFFFFF"/>
                </a:solidFill>
                <a:latin typeface="Calibri" pitchFamily="34" charset="0"/>
                <a:ea typeface="Calibri" pitchFamily="34" charset="-122"/>
                <a:cs typeface="Calibri" pitchFamily="34" charset="-120"/>
              </a:rPr>
              <a:t>Add and view sales records.</a:t>
            </a:r>
            <a:endParaRPr lang="en-US" sz="1800" dirty="0"/>
          </a:p>
          <a:p>
            <a:pPr marL="342900" indent="-342900">
              <a:spcAft>
                <a:spcPts val="1200"/>
              </a:spcAft>
              <a:buSzPct val="100000"/>
              <a:buChar char="•"/>
            </a:pPr>
            <a:r>
              <a:rPr lang="en-US" sz="1800" dirty="0">
                <a:solidFill>
                  <a:srgbClr val="FFFFFF"/>
                </a:solidFill>
                <a:latin typeface="Calibri" pitchFamily="34" charset="0"/>
                <a:ea typeface="Calibri" pitchFamily="34" charset="-122"/>
                <a:cs typeface="Calibri" pitchFamily="34" charset="-120"/>
              </a:rPr>
              <a:t>Calculate the total revenue.</a:t>
            </a:r>
            <a:endParaRPr lang="en-US" sz="1800" dirty="0"/>
          </a:p>
          <a:p>
            <a:pPr marL="342900" indent="-342900">
              <a:spcAft>
                <a:spcPts val="1200"/>
              </a:spcAft>
              <a:buSzPct val="100000"/>
              <a:buChar char="•"/>
            </a:pPr>
            <a:r>
              <a:rPr lang="en-US" sz="1800" dirty="0">
                <a:solidFill>
                  <a:srgbClr val="FFFFFF"/>
                </a:solidFill>
                <a:latin typeface="Calibri" pitchFamily="34" charset="0"/>
                <a:ea typeface="Calibri" pitchFamily="34" charset="-122"/>
                <a:cs typeface="Calibri" pitchFamily="34" charset="-120"/>
              </a:rPr>
              <a:t>Find the profit after taking away expenses.</a:t>
            </a:r>
            <a:endParaRPr lang="en-US" sz="1800" dirty="0"/>
          </a:p>
        </p:txBody>
      </p:sp>
      <p:sp>
        <p:nvSpPr>
          <p:cNvPr id="15" name="Shape 10"/>
          <p:cNvSpPr/>
          <p:nvPr/>
        </p:nvSpPr>
        <p:spPr>
          <a:xfrm>
            <a:off x="457200" y="5303520"/>
            <a:ext cx="11274552" cy="777240"/>
          </a:xfrm>
          <a:prstGeom prst="roundRect">
            <a:avLst>
              <a:gd name="adj" fmla="val 14118"/>
            </a:avLst>
          </a:prstGeom>
          <a:solidFill>
            <a:srgbClr val="E3EEE7"/>
          </a:solidFill>
          <a:ln w="12700">
            <a:solidFill>
              <a:srgbClr val="E3EEE7"/>
            </a:solidFill>
            <a:prstDash val="solid"/>
          </a:ln>
        </p:spPr>
      </p:sp>
      <p:sp>
        <p:nvSpPr>
          <p:cNvPr id="16" name="Shape 11"/>
          <p:cNvSpPr/>
          <p:nvPr/>
        </p:nvSpPr>
        <p:spPr>
          <a:xfrm>
            <a:off x="731520" y="5394960"/>
            <a:ext cx="594360" cy="594360"/>
          </a:xfrm>
          <a:prstGeom prst="ellipse">
            <a:avLst/>
          </a:prstGeom>
          <a:solidFill>
            <a:srgbClr val="2A754A"/>
          </a:solidFill>
          <a:ln w="12700">
            <a:solidFill>
              <a:srgbClr val="2A754A"/>
            </a:solidFill>
            <a:prstDash val="solid"/>
          </a:ln>
        </p:spPr>
      </p:sp>
      <p:pic>
        <p:nvPicPr>
          <p:cNvPr id="17" name="Image 3" descr="preencoded.png"/>
          <p:cNvPicPr>
            <a:picLocks noChangeAspect="1"/>
          </p:cNvPicPr>
          <p:nvPr/>
        </p:nvPicPr>
        <p:blipFill>
          <a:blip r:embed="rId6"/>
          <a:stretch>
            <a:fillRect/>
          </a:stretch>
        </p:blipFill>
        <p:spPr>
          <a:xfrm>
            <a:off x="886054" y="5549494"/>
            <a:ext cx="285293" cy="285293"/>
          </a:xfrm>
          <a:prstGeom prst="rect">
            <a:avLst/>
          </a:prstGeom>
        </p:spPr>
      </p:pic>
      <p:sp>
        <p:nvSpPr>
          <p:cNvPr id="18" name="Text 12"/>
          <p:cNvSpPr txBox="1"/>
          <p:nvPr/>
        </p:nvSpPr>
        <p:spPr>
          <a:xfrm>
            <a:off x="1600200" y="5303520"/>
            <a:ext cx="9875520" cy="777240"/>
          </a:xfrm>
          <a:prstGeom prst="rect">
            <a:avLst/>
          </a:prstGeom>
          <a:noFill/>
          <a:ln/>
        </p:spPr>
        <p:txBody>
          <a:bodyPr wrap="square" lIns="0" tIns="0" rIns="0" bIns="0" rtlCol="0" anchor="ctr"/>
          <a:lstStyle/>
          <a:p>
            <a:pPr marL="0" indent="0">
              <a:buNone/>
            </a:pPr>
            <a:r>
              <a:rPr lang="en-US" sz="1800" b="1" dirty="0">
                <a:solidFill>
                  <a:srgbClr val="2A754A"/>
                </a:solidFill>
                <a:latin typeface="Calibri" pitchFamily="34" charset="0"/>
                <a:ea typeface="Calibri" pitchFamily="34" charset="-122"/>
                <a:cs typeface="Calibri" pitchFamily="34" charset="-120"/>
              </a:rPr>
              <a:t>Our aim: </a:t>
            </a:r>
            <a:r>
              <a:rPr lang="en-US" sz="1800" dirty="0">
                <a:solidFill>
                  <a:srgbClr val="222B33"/>
                </a:solidFill>
                <a:latin typeface="Calibri" pitchFamily="34" charset="0"/>
                <a:ea typeface="Calibri" pitchFamily="34" charset="-122"/>
                <a:cs typeface="Calibri" pitchFamily="34" charset="-120"/>
              </a:rPr>
              <a:t>a simple, easy system that keeps a farmer’s money records neat and organized.</a:t>
            </a:r>
            <a:endParaRPr lang="en-US" sz="1800" dirty="0"/>
          </a:p>
        </p:txBody>
      </p:sp>
      <p:sp>
        <p:nvSpPr>
          <p:cNvPr id="25" name="Slide Number Placeholder 0"/>
          <p:cNvSpPr>
            <a:spLocks noGrp="1"/>
          </p:cNvSpPr>
          <p:nvPr>
            <p:ph type="sldNum" sz="quarter" idx="4294967295"/>
          </p:nvPr>
        </p:nvSpPr>
        <p:spPr>
          <a:xfrm>
            <a:off x="11247120" y="6382512"/>
            <a:ext cx="48463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F696E"/>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7F2"/>
        </a:solidFill>
        <a:effectLst/>
      </p:bgPr>
    </p:bg>
    <p:spTree>
      <p:nvGrpSpPr>
        <p:cNvPr id="1" name=""/>
        <p:cNvGrpSpPr/>
        <p:nvPr/>
      </p:nvGrpSpPr>
      <p:grpSpPr>
        <a:xfrm>
          <a:off x="0" y="0"/>
          <a:ext cx="0" cy="0"/>
          <a:chOff x="0" y="0"/>
          <a:chExt cx="0" cy="0"/>
        </a:xfrm>
      </p:grpSpPr>
      <p:pic>
        <p:nvPicPr>
          <p:cNvPr id="2" name="Image 0" descr="/home/claude/orig_x/ppt/media/image1.png"/>
          <p:cNvPicPr>
            <a:picLocks noChangeAspect="1"/>
          </p:cNvPicPr>
          <p:nvPr/>
        </p:nvPicPr>
        <p:blipFill>
          <a:blip r:embed="rId3"/>
          <a:stretch>
            <a:fillRect/>
          </a:stretch>
        </p:blipFill>
        <p:spPr>
          <a:xfrm>
            <a:off x="457200" y="274320"/>
            <a:ext cx="1097280" cy="815645"/>
          </a:xfrm>
          <a:prstGeom prst="rect">
            <a:avLst/>
          </a:prstGeom>
        </p:spPr>
      </p:pic>
      <p:sp>
        <p:nvSpPr>
          <p:cNvPr id="3" name="Text 0"/>
          <p:cNvSpPr txBox="1"/>
          <p:nvPr/>
        </p:nvSpPr>
        <p:spPr>
          <a:xfrm>
            <a:off x="1783080" y="411480"/>
            <a:ext cx="9966960" cy="685800"/>
          </a:xfrm>
          <a:prstGeom prst="rect">
            <a:avLst/>
          </a:prstGeom>
          <a:noFill/>
          <a:ln/>
        </p:spPr>
        <p:txBody>
          <a:bodyPr wrap="square" lIns="0" tIns="0" rIns="0" bIns="0" rtlCol="0" anchor="ctr"/>
          <a:lstStyle/>
          <a:p>
            <a:pPr marL="0" indent="0" algn="l">
              <a:buNone/>
            </a:pPr>
            <a:r>
              <a:rPr lang="en-US" sz="3600" b="1" dirty="0">
                <a:solidFill>
                  <a:srgbClr val="182B40"/>
                </a:solidFill>
                <a:latin typeface="Cambria" pitchFamily="34" charset="0"/>
                <a:ea typeface="Cambria" pitchFamily="34" charset="-122"/>
                <a:cs typeface="Cambria" pitchFamily="34" charset="-120"/>
              </a:rPr>
              <a:t>CO1 Topics</a:t>
            </a:r>
            <a:endParaRPr lang="en-US" sz="3600" dirty="0"/>
          </a:p>
        </p:txBody>
      </p:sp>
      <p:sp>
        <p:nvSpPr>
          <p:cNvPr id="4" name="Text 1"/>
          <p:cNvSpPr txBox="1"/>
          <p:nvPr/>
        </p:nvSpPr>
        <p:spPr>
          <a:xfrm>
            <a:off x="457200" y="6382512"/>
            <a:ext cx="5486400" cy="274320"/>
          </a:xfrm>
          <a:prstGeom prst="rect">
            <a:avLst/>
          </a:prstGeom>
          <a:noFill/>
          <a:ln/>
        </p:spPr>
        <p:txBody>
          <a:bodyPr wrap="square" lIns="0" tIns="0" rIns="0" bIns="0" rtlCol="0" anchor="ctr"/>
          <a:lstStyle/>
          <a:p>
            <a:pPr marL="0" indent="0">
              <a:buNone/>
            </a:pPr>
            <a:r>
              <a:rPr lang="en-US" sz="1100" dirty="0">
                <a:solidFill>
                  <a:srgbClr val="5F696E"/>
                </a:solidFill>
                <a:latin typeface="Calibri" pitchFamily="34" charset="0"/>
                <a:ea typeface="Calibri" pitchFamily="34" charset="-122"/>
                <a:cs typeface="Calibri" pitchFamily="34" charset="-120"/>
              </a:rPr>
              <a:t>Farmer’s Market Price &amp; Sales Tracker</a:t>
            </a:r>
            <a:endParaRPr lang="en-US" sz="1100" dirty="0"/>
          </a:p>
        </p:txBody>
      </p:sp>
      <p:sp>
        <p:nvSpPr>
          <p:cNvPr id="5" name="Shape 2"/>
          <p:cNvSpPr/>
          <p:nvPr/>
        </p:nvSpPr>
        <p:spPr>
          <a:xfrm>
            <a:off x="457200" y="1554480"/>
            <a:ext cx="3575304" cy="4206240"/>
          </a:xfrm>
          <a:prstGeom prst="roundRect">
            <a:avLst>
              <a:gd name="adj" fmla="val 3069"/>
            </a:avLst>
          </a:prstGeom>
          <a:solidFill>
            <a:srgbClr val="FFFFFF"/>
          </a:solidFill>
          <a:ln w="9525">
            <a:solidFill>
              <a:srgbClr val="E4E2D8"/>
            </a:solidFill>
            <a:prstDash val="solid"/>
          </a:ln>
          <a:effectLst>
            <a:outerShdw blurRad="101600" dist="25400" dir="5400000" algn="bl" rotWithShape="0">
              <a:srgbClr val="000000">
                <a:alpha val="10000"/>
              </a:srgbClr>
            </a:outerShdw>
          </a:effectLst>
        </p:spPr>
      </p:sp>
      <p:sp>
        <p:nvSpPr>
          <p:cNvPr id="6" name="Shape 3"/>
          <p:cNvSpPr/>
          <p:nvPr/>
        </p:nvSpPr>
        <p:spPr>
          <a:xfrm>
            <a:off x="731520" y="1828800"/>
            <a:ext cx="640080" cy="640080"/>
          </a:xfrm>
          <a:prstGeom prst="ellipse">
            <a:avLst/>
          </a:prstGeom>
          <a:solidFill>
            <a:srgbClr val="2A754A"/>
          </a:solidFill>
          <a:ln w="12700">
            <a:solidFill>
              <a:srgbClr val="2A754A"/>
            </a:solidFill>
            <a:prstDash val="solid"/>
          </a:ln>
        </p:spPr>
      </p:sp>
      <p:pic>
        <p:nvPicPr>
          <p:cNvPr id="7" name="Image 1" descr="preencoded.png"/>
          <p:cNvPicPr>
            <a:picLocks noChangeAspect="1"/>
          </p:cNvPicPr>
          <p:nvPr/>
        </p:nvPicPr>
        <p:blipFill>
          <a:blip r:embed="rId4"/>
          <a:stretch>
            <a:fillRect/>
          </a:stretch>
        </p:blipFill>
        <p:spPr>
          <a:xfrm>
            <a:off x="897941" y="1995221"/>
            <a:ext cx="307238" cy="307238"/>
          </a:xfrm>
          <a:prstGeom prst="rect">
            <a:avLst/>
          </a:prstGeom>
        </p:spPr>
      </p:pic>
      <p:sp>
        <p:nvSpPr>
          <p:cNvPr id="8" name="Text 4"/>
          <p:cNvSpPr txBox="1"/>
          <p:nvPr/>
        </p:nvSpPr>
        <p:spPr>
          <a:xfrm>
            <a:off x="1554480" y="1828800"/>
            <a:ext cx="2295144" cy="640080"/>
          </a:xfrm>
          <a:prstGeom prst="rect">
            <a:avLst/>
          </a:prstGeom>
          <a:noFill/>
          <a:ln/>
        </p:spPr>
        <p:txBody>
          <a:bodyPr wrap="square" lIns="0" tIns="0" rIns="0" bIns="0" rtlCol="0" anchor="ctr"/>
          <a:lstStyle/>
          <a:p>
            <a:pPr marL="0" indent="0">
              <a:buNone/>
            </a:pPr>
            <a:r>
              <a:rPr lang="en-US" sz="2200" b="1" dirty="0">
                <a:solidFill>
                  <a:srgbClr val="182B40"/>
                </a:solidFill>
                <a:latin typeface="Cambria" pitchFamily="34" charset="0"/>
                <a:ea typeface="Cambria" pitchFamily="34" charset="-122"/>
                <a:cs typeface="Cambria" pitchFamily="34" charset="-120"/>
              </a:rPr>
              <a:t>Data types</a:t>
            </a:r>
            <a:endParaRPr lang="en-US" sz="2200" dirty="0"/>
          </a:p>
        </p:txBody>
      </p:sp>
      <p:sp>
        <p:nvSpPr>
          <p:cNvPr id="9" name="Text 5"/>
          <p:cNvSpPr txBox="1"/>
          <p:nvPr/>
        </p:nvSpPr>
        <p:spPr>
          <a:xfrm>
            <a:off x="731520" y="2743200"/>
            <a:ext cx="1444752" cy="384048"/>
          </a:xfrm>
          <a:prstGeom prst="roundRect">
            <a:avLst>
              <a:gd name="adj" fmla="val 19048"/>
            </a:avLst>
          </a:prstGeom>
          <a:solidFill>
            <a:srgbClr val="E3EEE7"/>
          </a:solidFill>
          <a:ln>
            <a:solidFill>
              <a:srgbClr val="E3EEE7"/>
            </a:solidFill>
          </a:ln>
        </p:spPr>
        <p:txBody>
          <a:bodyPr wrap="square" lIns="0" tIns="0" rIns="0" bIns="0" rtlCol="0" anchor="ctr"/>
          <a:lstStyle/>
          <a:p>
            <a:pPr marL="0" indent="0" algn="ctr">
              <a:buNone/>
            </a:pPr>
            <a:r>
              <a:rPr lang="en-US" sz="1300" b="1" dirty="0">
                <a:solidFill>
                  <a:srgbClr val="2A754A"/>
                </a:solidFill>
                <a:latin typeface="Courier New" pitchFamily="34" charset="0"/>
                <a:ea typeface="Courier New" pitchFamily="34" charset="-122"/>
                <a:cs typeface="Courier New" pitchFamily="34" charset="-120"/>
              </a:rPr>
              <a:t>String</a:t>
            </a:r>
            <a:endParaRPr lang="en-US" sz="1300" dirty="0"/>
          </a:p>
        </p:txBody>
      </p:sp>
      <p:sp>
        <p:nvSpPr>
          <p:cNvPr id="10" name="Text 6"/>
          <p:cNvSpPr txBox="1"/>
          <p:nvPr/>
        </p:nvSpPr>
        <p:spPr>
          <a:xfrm>
            <a:off x="2313432" y="2743200"/>
            <a:ext cx="1444752" cy="384048"/>
          </a:xfrm>
          <a:prstGeom prst="roundRect">
            <a:avLst>
              <a:gd name="adj" fmla="val 19048"/>
            </a:avLst>
          </a:prstGeom>
          <a:solidFill>
            <a:srgbClr val="E3EEE7"/>
          </a:solidFill>
          <a:ln>
            <a:solidFill>
              <a:srgbClr val="E3EEE7"/>
            </a:solidFill>
          </a:ln>
        </p:spPr>
        <p:txBody>
          <a:bodyPr wrap="square" lIns="0" tIns="0" rIns="0" bIns="0" rtlCol="0" anchor="ctr"/>
          <a:lstStyle/>
          <a:p>
            <a:pPr marL="0" indent="0" algn="ctr">
              <a:buNone/>
            </a:pPr>
            <a:r>
              <a:rPr lang="en-US" sz="1300" b="1" dirty="0">
                <a:solidFill>
                  <a:srgbClr val="2A754A"/>
                </a:solidFill>
                <a:latin typeface="Courier New" pitchFamily="34" charset="0"/>
                <a:ea typeface="Courier New" pitchFamily="34" charset="-122"/>
                <a:cs typeface="Courier New" pitchFamily="34" charset="-120"/>
              </a:rPr>
              <a:t>double</a:t>
            </a:r>
            <a:endParaRPr lang="en-US" sz="1300" dirty="0"/>
          </a:p>
        </p:txBody>
      </p:sp>
      <p:sp>
        <p:nvSpPr>
          <p:cNvPr id="11" name="Text 7"/>
          <p:cNvSpPr txBox="1"/>
          <p:nvPr/>
        </p:nvSpPr>
        <p:spPr>
          <a:xfrm>
            <a:off x="731520" y="3236976"/>
            <a:ext cx="1444752" cy="384048"/>
          </a:xfrm>
          <a:prstGeom prst="roundRect">
            <a:avLst>
              <a:gd name="adj" fmla="val 19048"/>
            </a:avLst>
          </a:prstGeom>
          <a:solidFill>
            <a:srgbClr val="E3EEE7"/>
          </a:solidFill>
          <a:ln>
            <a:solidFill>
              <a:srgbClr val="E3EEE7"/>
            </a:solidFill>
          </a:ln>
        </p:spPr>
        <p:txBody>
          <a:bodyPr wrap="square" lIns="0" tIns="0" rIns="0" bIns="0" rtlCol="0" anchor="ctr"/>
          <a:lstStyle/>
          <a:p>
            <a:pPr marL="0" indent="0" algn="ctr">
              <a:buNone/>
            </a:pPr>
            <a:r>
              <a:rPr lang="en-US" sz="1300" b="1" dirty="0">
                <a:solidFill>
                  <a:srgbClr val="2A754A"/>
                </a:solidFill>
                <a:latin typeface="Courier New" pitchFamily="34" charset="0"/>
                <a:ea typeface="Courier New" pitchFamily="34" charset="-122"/>
                <a:cs typeface="Courier New" pitchFamily="34" charset="-120"/>
              </a:rPr>
              <a:t>int</a:t>
            </a:r>
            <a:endParaRPr lang="en-US" sz="1300" dirty="0"/>
          </a:p>
        </p:txBody>
      </p:sp>
      <p:sp>
        <p:nvSpPr>
          <p:cNvPr id="12" name="Text 8"/>
          <p:cNvSpPr txBox="1"/>
          <p:nvPr/>
        </p:nvSpPr>
        <p:spPr>
          <a:xfrm>
            <a:off x="2313432" y="3236976"/>
            <a:ext cx="1444752" cy="384048"/>
          </a:xfrm>
          <a:prstGeom prst="roundRect">
            <a:avLst>
              <a:gd name="adj" fmla="val 19048"/>
            </a:avLst>
          </a:prstGeom>
          <a:solidFill>
            <a:srgbClr val="E3EEE7"/>
          </a:solidFill>
          <a:ln>
            <a:solidFill>
              <a:srgbClr val="E3EEE7"/>
            </a:solidFill>
          </a:ln>
        </p:spPr>
        <p:txBody>
          <a:bodyPr wrap="square" lIns="0" tIns="0" rIns="0" bIns="0" rtlCol="0" anchor="ctr"/>
          <a:lstStyle/>
          <a:p>
            <a:pPr marL="0" indent="0" algn="ctr">
              <a:buNone/>
            </a:pPr>
            <a:r>
              <a:rPr lang="en-US" sz="1300" b="1" dirty="0">
                <a:solidFill>
                  <a:srgbClr val="2A754A"/>
                </a:solidFill>
                <a:latin typeface="Courier New" pitchFamily="34" charset="0"/>
                <a:ea typeface="Courier New" pitchFamily="34" charset="-122"/>
                <a:cs typeface="Courier New" pitchFamily="34" charset="-120"/>
              </a:rPr>
              <a:t>boolean</a:t>
            </a:r>
            <a:endParaRPr lang="en-US" sz="1300" dirty="0"/>
          </a:p>
        </p:txBody>
      </p:sp>
      <p:sp>
        <p:nvSpPr>
          <p:cNvPr id="13" name="Text 9"/>
          <p:cNvSpPr txBox="1"/>
          <p:nvPr/>
        </p:nvSpPr>
        <p:spPr>
          <a:xfrm>
            <a:off x="731520" y="4343400"/>
            <a:ext cx="3026664" cy="1280160"/>
          </a:xfrm>
          <a:prstGeom prst="rect">
            <a:avLst/>
          </a:prstGeom>
          <a:noFill/>
          <a:ln/>
        </p:spPr>
        <p:txBody>
          <a:bodyPr wrap="square" lIns="0" tIns="0" rIns="0" bIns="0" rtlCol="0" anchor="t"/>
          <a:lstStyle/>
          <a:p>
            <a:pPr marL="0" indent="0">
              <a:spcAft>
                <a:spcPts val="600"/>
              </a:spcAft>
              <a:buNone/>
            </a:pPr>
            <a:r>
              <a:rPr lang="en-US" sz="1500" dirty="0">
                <a:solidFill>
                  <a:srgbClr val="222B33"/>
                </a:solidFill>
                <a:latin typeface="Calibri" pitchFamily="34" charset="0"/>
                <a:ea typeface="Calibri" pitchFamily="34" charset="-122"/>
                <a:cs typeface="Calibri" pitchFamily="34" charset="-120"/>
              </a:rPr>
              <a:t>They tell Java what kind of value we store. </a:t>
            </a:r>
            <a:r>
              <a:rPr lang="en-US" sz="1500" b="1" dirty="0">
                <a:solidFill>
                  <a:srgbClr val="2A754A"/>
                </a:solidFill>
                <a:latin typeface="Courier New" pitchFamily="34" charset="0"/>
                <a:ea typeface="Courier New" pitchFamily="34" charset="-122"/>
                <a:cs typeface="Courier New" pitchFamily="34" charset="-120"/>
              </a:rPr>
              <a:t>cropName</a:t>
            </a:r>
            <a:r>
              <a:rPr lang="en-US" sz="1500" dirty="0">
                <a:solidFill>
                  <a:srgbClr val="222B33"/>
                </a:solidFill>
                <a:latin typeface="Calibri" pitchFamily="34" charset="0"/>
                <a:ea typeface="Calibri" pitchFamily="34" charset="-122"/>
                <a:cs typeface="Calibri" pitchFamily="34" charset="-120"/>
              </a:rPr>
              <a:t> is a String. </a:t>
            </a:r>
            <a:r>
              <a:rPr lang="en-US" sz="1500" b="1" dirty="0">
                <a:solidFill>
                  <a:srgbClr val="2A754A"/>
                </a:solidFill>
                <a:latin typeface="Courier New" pitchFamily="34" charset="0"/>
                <a:ea typeface="Courier New" pitchFamily="34" charset="-122"/>
                <a:cs typeface="Courier New" pitchFamily="34" charset="-120"/>
              </a:rPr>
              <a:t>pricePerKg</a:t>
            </a:r>
            <a:r>
              <a:rPr lang="en-US" sz="1500" dirty="0">
                <a:solidFill>
                  <a:srgbClr val="222B33"/>
                </a:solidFill>
                <a:latin typeface="Calibri" pitchFamily="34" charset="0"/>
                <a:ea typeface="Calibri" pitchFamily="34" charset="-122"/>
                <a:cs typeface="Calibri" pitchFamily="34" charset="-120"/>
              </a:rPr>
              <a:t> is a double.</a:t>
            </a:r>
            <a:endParaRPr lang="en-US" sz="1500" dirty="0"/>
          </a:p>
        </p:txBody>
      </p:sp>
      <p:sp>
        <p:nvSpPr>
          <p:cNvPr id="14" name="Shape 10"/>
          <p:cNvSpPr/>
          <p:nvPr/>
        </p:nvSpPr>
        <p:spPr>
          <a:xfrm>
            <a:off x="4306824" y="1554480"/>
            <a:ext cx="3575304" cy="4206240"/>
          </a:xfrm>
          <a:prstGeom prst="roundRect">
            <a:avLst>
              <a:gd name="adj" fmla="val 3069"/>
            </a:avLst>
          </a:prstGeom>
          <a:solidFill>
            <a:srgbClr val="FFFFFF"/>
          </a:solidFill>
          <a:ln w="9525">
            <a:solidFill>
              <a:srgbClr val="E4E2D8"/>
            </a:solidFill>
            <a:prstDash val="solid"/>
          </a:ln>
          <a:effectLst>
            <a:outerShdw blurRad="101600" dist="25400" dir="5400000" algn="bl" rotWithShape="0">
              <a:srgbClr val="000000">
                <a:alpha val="10000"/>
              </a:srgbClr>
            </a:outerShdw>
          </a:effectLst>
        </p:spPr>
      </p:sp>
      <p:sp>
        <p:nvSpPr>
          <p:cNvPr id="15" name="Shape 11"/>
          <p:cNvSpPr/>
          <p:nvPr/>
        </p:nvSpPr>
        <p:spPr>
          <a:xfrm>
            <a:off x="4581144" y="1828800"/>
            <a:ext cx="640080" cy="640080"/>
          </a:xfrm>
          <a:prstGeom prst="ellipse">
            <a:avLst/>
          </a:prstGeom>
          <a:solidFill>
            <a:srgbClr val="2A754A"/>
          </a:solidFill>
          <a:ln w="12700">
            <a:solidFill>
              <a:srgbClr val="2A754A"/>
            </a:solidFill>
            <a:prstDash val="solid"/>
          </a:ln>
        </p:spPr>
      </p:sp>
      <p:pic>
        <p:nvPicPr>
          <p:cNvPr id="16" name="Image 2" descr="preencoded.png"/>
          <p:cNvPicPr>
            <a:picLocks noChangeAspect="1"/>
          </p:cNvPicPr>
          <p:nvPr/>
        </p:nvPicPr>
        <p:blipFill>
          <a:blip r:embed="rId5"/>
          <a:stretch>
            <a:fillRect/>
          </a:stretch>
        </p:blipFill>
        <p:spPr>
          <a:xfrm>
            <a:off x="4747565" y="1995221"/>
            <a:ext cx="307238" cy="307238"/>
          </a:xfrm>
          <a:prstGeom prst="rect">
            <a:avLst/>
          </a:prstGeom>
        </p:spPr>
      </p:pic>
      <p:sp>
        <p:nvSpPr>
          <p:cNvPr id="17" name="Text 12"/>
          <p:cNvSpPr txBox="1"/>
          <p:nvPr/>
        </p:nvSpPr>
        <p:spPr>
          <a:xfrm>
            <a:off x="5404104" y="1828800"/>
            <a:ext cx="2295144" cy="640080"/>
          </a:xfrm>
          <a:prstGeom prst="rect">
            <a:avLst/>
          </a:prstGeom>
          <a:noFill/>
          <a:ln/>
        </p:spPr>
        <p:txBody>
          <a:bodyPr wrap="square" lIns="0" tIns="0" rIns="0" bIns="0" rtlCol="0" anchor="ctr"/>
          <a:lstStyle/>
          <a:p>
            <a:pPr marL="0" indent="0">
              <a:buNone/>
            </a:pPr>
            <a:r>
              <a:rPr lang="en-US" sz="2200" b="1" dirty="0">
                <a:solidFill>
                  <a:srgbClr val="182B40"/>
                </a:solidFill>
                <a:latin typeface="Cambria" pitchFamily="34" charset="0"/>
                <a:ea typeface="Cambria" pitchFamily="34" charset="-122"/>
                <a:cs typeface="Cambria" pitchFamily="34" charset="-120"/>
              </a:rPr>
              <a:t>Variables</a:t>
            </a:r>
            <a:endParaRPr lang="en-US" sz="2200" dirty="0"/>
          </a:p>
        </p:txBody>
      </p:sp>
      <p:sp>
        <p:nvSpPr>
          <p:cNvPr id="18" name="Text 13"/>
          <p:cNvSpPr txBox="1"/>
          <p:nvPr/>
        </p:nvSpPr>
        <p:spPr>
          <a:xfrm>
            <a:off x="4581144" y="2743200"/>
            <a:ext cx="1444752" cy="384048"/>
          </a:xfrm>
          <a:prstGeom prst="roundRect">
            <a:avLst>
              <a:gd name="adj" fmla="val 19048"/>
            </a:avLst>
          </a:prstGeom>
          <a:solidFill>
            <a:srgbClr val="E3EEE7"/>
          </a:solidFill>
          <a:ln>
            <a:solidFill>
              <a:srgbClr val="E3EEE7"/>
            </a:solidFill>
          </a:ln>
        </p:spPr>
        <p:txBody>
          <a:bodyPr wrap="square" lIns="0" tIns="0" rIns="0" bIns="0" rtlCol="0" anchor="ctr"/>
          <a:lstStyle/>
          <a:p>
            <a:pPr marL="0" indent="0" algn="ctr">
              <a:buNone/>
            </a:pPr>
            <a:r>
              <a:rPr lang="en-US" sz="1300" b="1" dirty="0">
                <a:solidFill>
                  <a:srgbClr val="2A754A"/>
                </a:solidFill>
                <a:latin typeface="Courier New" pitchFamily="34" charset="0"/>
                <a:ea typeface="Courier New" pitchFamily="34" charset="-122"/>
                <a:cs typeface="Courier New" pitchFamily="34" charset="-120"/>
              </a:rPr>
              <a:t>cropName</a:t>
            </a:r>
            <a:endParaRPr lang="en-US" sz="1300" dirty="0"/>
          </a:p>
        </p:txBody>
      </p:sp>
      <p:sp>
        <p:nvSpPr>
          <p:cNvPr id="19" name="Text 14"/>
          <p:cNvSpPr txBox="1"/>
          <p:nvPr/>
        </p:nvSpPr>
        <p:spPr>
          <a:xfrm>
            <a:off x="6163056" y="2743200"/>
            <a:ext cx="1444752" cy="384048"/>
          </a:xfrm>
          <a:prstGeom prst="roundRect">
            <a:avLst>
              <a:gd name="adj" fmla="val 19048"/>
            </a:avLst>
          </a:prstGeom>
          <a:solidFill>
            <a:srgbClr val="E3EEE7"/>
          </a:solidFill>
          <a:ln>
            <a:solidFill>
              <a:srgbClr val="E3EEE7"/>
            </a:solidFill>
          </a:ln>
        </p:spPr>
        <p:txBody>
          <a:bodyPr wrap="square" lIns="0" tIns="0" rIns="0" bIns="0" rtlCol="0" anchor="ctr"/>
          <a:lstStyle/>
          <a:p>
            <a:pPr marL="0" indent="0" algn="ctr">
              <a:buNone/>
            </a:pPr>
            <a:r>
              <a:rPr lang="en-US" sz="1300" b="1" dirty="0">
                <a:solidFill>
                  <a:srgbClr val="2A754A"/>
                </a:solidFill>
                <a:latin typeface="Courier New" pitchFamily="34" charset="0"/>
                <a:ea typeface="Courier New" pitchFamily="34" charset="-122"/>
                <a:cs typeface="Courier New" pitchFamily="34" charset="-120"/>
              </a:rPr>
              <a:t>quantity</a:t>
            </a:r>
            <a:endParaRPr lang="en-US" sz="1300" dirty="0"/>
          </a:p>
        </p:txBody>
      </p:sp>
      <p:sp>
        <p:nvSpPr>
          <p:cNvPr id="20" name="Text 15"/>
          <p:cNvSpPr txBox="1"/>
          <p:nvPr/>
        </p:nvSpPr>
        <p:spPr>
          <a:xfrm>
            <a:off x="4581144" y="3236976"/>
            <a:ext cx="1444752" cy="384048"/>
          </a:xfrm>
          <a:prstGeom prst="roundRect">
            <a:avLst>
              <a:gd name="adj" fmla="val 19048"/>
            </a:avLst>
          </a:prstGeom>
          <a:solidFill>
            <a:srgbClr val="E3EEE7"/>
          </a:solidFill>
          <a:ln>
            <a:solidFill>
              <a:srgbClr val="E3EEE7"/>
            </a:solidFill>
          </a:ln>
        </p:spPr>
        <p:txBody>
          <a:bodyPr wrap="square" lIns="0" tIns="0" rIns="0" bIns="0" rtlCol="0" anchor="ctr"/>
          <a:lstStyle/>
          <a:p>
            <a:pPr marL="0" indent="0" algn="ctr">
              <a:buNone/>
            </a:pPr>
            <a:r>
              <a:rPr lang="en-US" sz="1300" b="1" dirty="0">
                <a:solidFill>
                  <a:srgbClr val="2A754A"/>
                </a:solidFill>
                <a:latin typeface="Courier New" pitchFamily="34" charset="0"/>
                <a:ea typeface="Courier New" pitchFamily="34" charset="-122"/>
                <a:cs typeface="Courier New" pitchFamily="34" charset="-120"/>
              </a:rPr>
              <a:t>pricePerKg</a:t>
            </a:r>
            <a:endParaRPr lang="en-US" sz="1300" dirty="0"/>
          </a:p>
        </p:txBody>
      </p:sp>
      <p:sp>
        <p:nvSpPr>
          <p:cNvPr id="21" name="Text 16"/>
          <p:cNvSpPr txBox="1"/>
          <p:nvPr/>
        </p:nvSpPr>
        <p:spPr>
          <a:xfrm>
            <a:off x="6163056" y="3236976"/>
            <a:ext cx="1444752" cy="384048"/>
          </a:xfrm>
          <a:prstGeom prst="roundRect">
            <a:avLst>
              <a:gd name="adj" fmla="val 19048"/>
            </a:avLst>
          </a:prstGeom>
          <a:solidFill>
            <a:srgbClr val="E3EEE7"/>
          </a:solidFill>
          <a:ln>
            <a:solidFill>
              <a:srgbClr val="E3EEE7"/>
            </a:solidFill>
          </a:ln>
        </p:spPr>
        <p:txBody>
          <a:bodyPr wrap="square" lIns="0" tIns="0" rIns="0" bIns="0" rtlCol="0" anchor="ctr"/>
          <a:lstStyle/>
          <a:p>
            <a:pPr marL="0" indent="0" algn="ctr">
              <a:buNone/>
            </a:pPr>
            <a:r>
              <a:rPr lang="en-US" sz="1300" b="1" dirty="0">
                <a:solidFill>
                  <a:srgbClr val="2A754A"/>
                </a:solidFill>
                <a:latin typeface="Courier New" pitchFamily="34" charset="0"/>
                <a:ea typeface="Courier New" pitchFamily="34" charset="-122"/>
                <a:cs typeface="Courier New" pitchFamily="34" charset="-120"/>
              </a:rPr>
              <a:t>revenue</a:t>
            </a:r>
            <a:endParaRPr lang="en-US" sz="1300" dirty="0"/>
          </a:p>
        </p:txBody>
      </p:sp>
      <p:sp>
        <p:nvSpPr>
          <p:cNvPr id="22" name="Text 17"/>
          <p:cNvSpPr txBox="1"/>
          <p:nvPr/>
        </p:nvSpPr>
        <p:spPr>
          <a:xfrm>
            <a:off x="4581144" y="3730752"/>
            <a:ext cx="1444752" cy="384048"/>
          </a:xfrm>
          <a:prstGeom prst="roundRect">
            <a:avLst>
              <a:gd name="adj" fmla="val 19048"/>
            </a:avLst>
          </a:prstGeom>
          <a:solidFill>
            <a:srgbClr val="E3EEE7"/>
          </a:solidFill>
          <a:ln>
            <a:solidFill>
              <a:srgbClr val="E3EEE7"/>
            </a:solidFill>
          </a:ln>
        </p:spPr>
        <p:txBody>
          <a:bodyPr wrap="square" lIns="0" tIns="0" rIns="0" bIns="0" rtlCol="0" anchor="ctr"/>
          <a:lstStyle/>
          <a:p>
            <a:pPr marL="0" indent="0" algn="ctr">
              <a:buNone/>
            </a:pPr>
            <a:r>
              <a:rPr lang="en-US" sz="1300" b="1" dirty="0">
                <a:solidFill>
                  <a:srgbClr val="2A754A"/>
                </a:solidFill>
                <a:latin typeface="Courier New" pitchFamily="34" charset="0"/>
                <a:ea typeface="Courier New" pitchFamily="34" charset="-122"/>
                <a:cs typeface="Courier New" pitchFamily="34" charset="-120"/>
              </a:rPr>
              <a:t>expenses</a:t>
            </a:r>
            <a:endParaRPr lang="en-US" sz="1300" dirty="0"/>
          </a:p>
        </p:txBody>
      </p:sp>
      <p:sp>
        <p:nvSpPr>
          <p:cNvPr id="23" name="Text 18"/>
          <p:cNvSpPr txBox="1"/>
          <p:nvPr/>
        </p:nvSpPr>
        <p:spPr>
          <a:xfrm>
            <a:off x="6163056" y="3730752"/>
            <a:ext cx="1444752" cy="384048"/>
          </a:xfrm>
          <a:prstGeom prst="roundRect">
            <a:avLst>
              <a:gd name="adj" fmla="val 19048"/>
            </a:avLst>
          </a:prstGeom>
          <a:solidFill>
            <a:srgbClr val="E3EEE7"/>
          </a:solidFill>
          <a:ln>
            <a:solidFill>
              <a:srgbClr val="E3EEE7"/>
            </a:solidFill>
          </a:ln>
        </p:spPr>
        <p:txBody>
          <a:bodyPr wrap="square" lIns="0" tIns="0" rIns="0" bIns="0" rtlCol="0" anchor="ctr"/>
          <a:lstStyle/>
          <a:p>
            <a:pPr marL="0" indent="0" algn="ctr">
              <a:buNone/>
            </a:pPr>
            <a:r>
              <a:rPr lang="en-US" sz="1300" b="1" dirty="0">
                <a:solidFill>
                  <a:srgbClr val="2A754A"/>
                </a:solidFill>
                <a:latin typeface="Courier New" pitchFamily="34" charset="0"/>
                <a:ea typeface="Courier New" pitchFamily="34" charset="-122"/>
                <a:cs typeface="Courier New" pitchFamily="34" charset="-120"/>
              </a:rPr>
              <a:t>profit</a:t>
            </a:r>
            <a:endParaRPr lang="en-US" sz="1300" dirty="0"/>
          </a:p>
        </p:txBody>
      </p:sp>
      <p:sp>
        <p:nvSpPr>
          <p:cNvPr id="24" name="Text 19"/>
          <p:cNvSpPr txBox="1"/>
          <p:nvPr/>
        </p:nvSpPr>
        <p:spPr>
          <a:xfrm>
            <a:off x="4581144" y="4343400"/>
            <a:ext cx="3026664" cy="1280160"/>
          </a:xfrm>
          <a:prstGeom prst="rect">
            <a:avLst/>
          </a:prstGeom>
          <a:noFill/>
          <a:ln/>
        </p:spPr>
        <p:txBody>
          <a:bodyPr wrap="square" lIns="0" tIns="0" rIns="0" bIns="0" rtlCol="0" anchor="t"/>
          <a:lstStyle/>
          <a:p>
            <a:pPr marL="0" indent="0">
              <a:spcAft>
                <a:spcPts val="600"/>
              </a:spcAft>
              <a:buNone/>
            </a:pPr>
            <a:r>
              <a:rPr lang="en-US" sz="1500" dirty="0">
                <a:solidFill>
                  <a:srgbClr val="222B33"/>
                </a:solidFill>
                <a:latin typeface="Calibri" pitchFamily="34" charset="0"/>
                <a:ea typeface="Calibri" pitchFamily="34" charset="-122"/>
                <a:cs typeface="Calibri" pitchFamily="34" charset="-120"/>
              </a:rPr>
              <a:t>These are the names where we keep the crop details and the money numbers.</a:t>
            </a:r>
            <a:endParaRPr lang="en-US" sz="1500" dirty="0"/>
          </a:p>
        </p:txBody>
      </p:sp>
      <p:sp>
        <p:nvSpPr>
          <p:cNvPr id="25" name="Shape 20"/>
          <p:cNvSpPr/>
          <p:nvPr/>
        </p:nvSpPr>
        <p:spPr>
          <a:xfrm>
            <a:off x="8156448" y="1554480"/>
            <a:ext cx="3575304" cy="4206240"/>
          </a:xfrm>
          <a:prstGeom prst="roundRect">
            <a:avLst>
              <a:gd name="adj" fmla="val 3069"/>
            </a:avLst>
          </a:prstGeom>
          <a:solidFill>
            <a:srgbClr val="FFFFFF"/>
          </a:solidFill>
          <a:ln w="9525">
            <a:solidFill>
              <a:srgbClr val="E4E2D8"/>
            </a:solidFill>
            <a:prstDash val="solid"/>
          </a:ln>
          <a:effectLst>
            <a:outerShdw blurRad="101600" dist="25400" dir="5400000" algn="bl" rotWithShape="0">
              <a:srgbClr val="000000">
                <a:alpha val="10000"/>
              </a:srgbClr>
            </a:outerShdw>
          </a:effectLst>
        </p:spPr>
      </p:sp>
      <p:sp>
        <p:nvSpPr>
          <p:cNvPr id="26" name="Shape 21"/>
          <p:cNvSpPr/>
          <p:nvPr/>
        </p:nvSpPr>
        <p:spPr>
          <a:xfrm>
            <a:off x="8430768" y="1828800"/>
            <a:ext cx="640080" cy="640080"/>
          </a:xfrm>
          <a:prstGeom prst="ellipse">
            <a:avLst/>
          </a:prstGeom>
          <a:solidFill>
            <a:srgbClr val="2A754A"/>
          </a:solidFill>
          <a:ln w="12700">
            <a:solidFill>
              <a:srgbClr val="2A754A"/>
            </a:solidFill>
            <a:prstDash val="solid"/>
          </a:ln>
        </p:spPr>
      </p:sp>
      <p:pic>
        <p:nvPicPr>
          <p:cNvPr id="27" name="Image 3" descr="preencoded.png"/>
          <p:cNvPicPr>
            <a:picLocks noChangeAspect="1"/>
          </p:cNvPicPr>
          <p:nvPr/>
        </p:nvPicPr>
        <p:blipFill>
          <a:blip r:embed="rId6"/>
          <a:stretch>
            <a:fillRect/>
          </a:stretch>
        </p:blipFill>
        <p:spPr>
          <a:xfrm>
            <a:off x="8597189" y="1995221"/>
            <a:ext cx="307238" cy="307238"/>
          </a:xfrm>
          <a:prstGeom prst="rect">
            <a:avLst/>
          </a:prstGeom>
        </p:spPr>
      </p:pic>
      <p:sp>
        <p:nvSpPr>
          <p:cNvPr id="28" name="Text 22"/>
          <p:cNvSpPr txBox="1"/>
          <p:nvPr/>
        </p:nvSpPr>
        <p:spPr>
          <a:xfrm>
            <a:off x="9253728" y="1828800"/>
            <a:ext cx="2295144" cy="640080"/>
          </a:xfrm>
          <a:prstGeom prst="rect">
            <a:avLst/>
          </a:prstGeom>
          <a:noFill/>
          <a:ln/>
        </p:spPr>
        <p:txBody>
          <a:bodyPr wrap="square" lIns="0" tIns="0" rIns="0" bIns="0" rtlCol="0" anchor="ctr"/>
          <a:lstStyle/>
          <a:p>
            <a:pPr marL="0" indent="0">
              <a:buNone/>
            </a:pPr>
            <a:r>
              <a:rPr lang="en-US" sz="2200" b="1" dirty="0">
                <a:solidFill>
                  <a:srgbClr val="182B40"/>
                </a:solidFill>
                <a:latin typeface="Cambria" pitchFamily="34" charset="0"/>
                <a:ea typeface="Cambria" pitchFamily="34" charset="-122"/>
                <a:cs typeface="Cambria" pitchFamily="34" charset="-120"/>
              </a:rPr>
              <a:t>Operators</a:t>
            </a:r>
            <a:endParaRPr lang="en-US" sz="2200" dirty="0"/>
          </a:p>
        </p:txBody>
      </p:sp>
      <p:sp>
        <p:nvSpPr>
          <p:cNvPr id="29" name="Text 23"/>
          <p:cNvSpPr txBox="1"/>
          <p:nvPr/>
        </p:nvSpPr>
        <p:spPr>
          <a:xfrm>
            <a:off x="8430768" y="2743200"/>
            <a:ext cx="1444752" cy="384048"/>
          </a:xfrm>
          <a:prstGeom prst="roundRect">
            <a:avLst>
              <a:gd name="adj" fmla="val 19048"/>
            </a:avLst>
          </a:prstGeom>
          <a:solidFill>
            <a:srgbClr val="E3EEE7"/>
          </a:solidFill>
          <a:ln>
            <a:solidFill>
              <a:srgbClr val="E3EEE7"/>
            </a:solidFill>
          </a:ln>
        </p:spPr>
        <p:txBody>
          <a:bodyPr wrap="square" lIns="0" tIns="0" rIns="0" bIns="0" rtlCol="0" anchor="ctr"/>
          <a:lstStyle/>
          <a:p>
            <a:pPr marL="0" indent="0" algn="ctr">
              <a:buNone/>
            </a:pPr>
            <a:r>
              <a:rPr lang="en-US" sz="1400" b="1" dirty="0">
                <a:solidFill>
                  <a:srgbClr val="2A754A"/>
                </a:solidFill>
                <a:latin typeface="Calibri" pitchFamily="34" charset="0"/>
                <a:ea typeface="Calibri" pitchFamily="34" charset="-122"/>
                <a:cs typeface="Calibri" pitchFamily="34" charset="-120"/>
              </a:rPr>
              <a:t>Arithmetic</a:t>
            </a:r>
            <a:endParaRPr lang="en-US" sz="1400" dirty="0"/>
          </a:p>
        </p:txBody>
      </p:sp>
      <p:sp>
        <p:nvSpPr>
          <p:cNvPr id="30" name="Text 24"/>
          <p:cNvSpPr txBox="1"/>
          <p:nvPr/>
        </p:nvSpPr>
        <p:spPr>
          <a:xfrm>
            <a:off x="10012680" y="2743200"/>
            <a:ext cx="1444752" cy="384048"/>
          </a:xfrm>
          <a:prstGeom prst="roundRect">
            <a:avLst>
              <a:gd name="adj" fmla="val 19048"/>
            </a:avLst>
          </a:prstGeom>
          <a:solidFill>
            <a:srgbClr val="E3EEE7"/>
          </a:solidFill>
          <a:ln>
            <a:solidFill>
              <a:srgbClr val="E3EEE7"/>
            </a:solidFill>
          </a:ln>
        </p:spPr>
        <p:txBody>
          <a:bodyPr wrap="square" lIns="0" tIns="0" rIns="0" bIns="0" rtlCol="0" anchor="ctr"/>
          <a:lstStyle/>
          <a:p>
            <a:pPr marL="0" indent="0" algn="ctr">
              <a:buNone/>
            </a:pPr>
            <a:r>
              <a:rPr lang="en-US" sz="1400" b="1" dirty="0">
                <a:solidFill>
                  <a:srgbClr val="2A754A"/>
                </a:solidFill>
                <a:latin typeface="Calibri" pitchFamily="34" charset="0"/>
                <a:ea typeface="Calibri" pitchFamily="34" charset="-122"/>
                <a:cs typeface="Calibri" pitchFamily="34" charset="-120"/>
              </a:rPr>
              <a:t>Relational</a:t>
            </a:r>
            <a:endParaRPr lang="en-US" sz="1400" dirty="0"/>
          </a:p>
        </p:txBody>
      </p:sp>
      <p:sp>
        <p:nvSpPr>
          <p:cNvPr id="31" name="Text 25"/>
          <p:cNvSpPr txBox="1"/>
          <p:nvPr/>
        </p:nvSpPr>
        <p:spPr>
          <a:xfrm>
            <a:off x="8430768" y="4343400"/>
            <a:ext cx="3026664" cy="1280160"/>
          </a:xfrm>
          <a:prstGeom prst="rect">
            <a:avLst/>
          </a:prstGeom>
          <a:noFill/>
          <a:ln/>
        </p:spPr>
        <p:txBody>
          <a:bodyPr wrap="square" lIns="0" tIns="0" rIns="0" bIns="0" rtlCol="0" anchor="t"/>
          <a:lstStyle/>
          <a:p>
            <a:pPr marL="0" indent="0">
              <a:spcAft>
                <a:spcPts val="600"/>
              </a:spcAft>
              <a:buNone/>
            </a:pPr>
            <a:r>
              <a:rPr lang="en-US" sz="1500" b="1" dirty="0">
                <a:solidFill>
                  <a:srgbClr val="2A754A"/>
                </a:solidFill>
                <a:latin typeface="Calibri" pitchFamily="34" charset="0"/>
                <a:ea typeface="Calibri" pitchFamily="34" charset="-122"/>
                <a:cs typeface="Calibri" pitchFamily="34" charset="-120"/>
              </a:rPr>
              <a:t>Arithmetic: </a:t>
            </a:r>
            <a:r>
              <a:rPr lang="en-US" sz="1500" dirty="0">
                <a:solidFill>
                  <a:srgbClr val="222B33"/>
                </a:solidFill>
                <a:latin typeface="Calibri" pitchFamily="34" charset="0"/>
                <a:ea typeface="Calibri" pitchFamily="34" charset="-122"/>
                <a:cs typeface="Calibri" pitchFamily="34" charset="-120"/>
              </a:rPr>
              <a:t>calculates money, like multiply and subtract.</a:t>
            </a:r>
            <a:endParaRPr lang="en-US" sz="1500" dirty="0"/>
          </a:p>
          <a:p>
            <a:pPr marL="0" indent="0">
              <a:spcAft>
                <a:spcPts val="600"/>
              </a:spcAft>
              <a:buNone/>
            </a:pPr>
            <a:r>
              <a:rPr lang="en-US" sz="1500" b="1" dirty="0">
                <a:solidFill>
                  <a:srgbClr val="2A754A"/>
                </a:solidFill>
                <a:latin typeface="Calibri" pitchFamily="34" charset="0"/>
                <a:ea typeface="Calibri" pitchFamily="34" charset="-122"/>
                <a:cs typeface="Calibri" pitchFamily="34" charset="-120"/>
              </a:rPr>
              <a:t>Relational: </a:t>
            </a:r>
            <a:r>
              <a:rPr lang="en-US" sz="1500" dirty="0">
                <a:solidFill>
                  <a:srgbClr val="222B33"/>
                </a:solidFill>
                <a:latin typeface="Calibri" pitchFamily="34" charset="0"/>
                <a:ea typeface="Calibri" pitchFamily="34" charset="-122"/>
                <a:cs typeface="Calibri" pitchFamily="34" charset="-120"/>
              </a:rPr>
              <a:t>compares values, like finding the highest price.</a:t>
            </a:r>
            <a:endParaRPr lang="en-US" sz="1500" dirty="0"/>
          </a:p>
        </p:txBody>
      </p:sp>
      <p:sp>
        <p:nvSpPr>
          <p:cNvPr id="32" name="Slide Number Placeholder 0"/>
          <p:cNvSpPr>
            <a:spLocks noGrp="1"/>
          </p:cNvSpPr>
          <p:nvPr>
            <p:ph type="sldNum" sz="quarter" idx="4294967295"/>
          </p:nvPr>
        </p:nvSpPr>
        <p:spPr>
          <a:xfrm>
            <a:off x="11247120" y="6382512"/>
            <a:ext cx="48463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F696E"/>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7F2"/>
        </a:solidFill>
        <a:effectLst/>
      </p:bgPr>
    </p:bg>
    <p:spTree>
      <p:nvGrpSpPr>
        <p:cNvPr id="1" name=""/>
        <p:cNvGrpSpPr/>
        <p:nvPr/>
      </p:nvGrpSpPr>
      <p:grpSpPr>
        <a:xfrm>
          <a:off x="0" y="0"/>
          <a:ext cx="0" cy="0"/>
          <a:chOff x="0" y="0"/>
          <a:chExt cx="0" cy="0"/>
        </a:xfrm>
      </p:grpSpPr>
      <p:pic>
        <p:nvPicPr>
          <p:cNvPr id="2" name="Image 0" descr="/home/claude/orig_x/ppt/media/image1.png"/>
          <p:cNvPicPr>
            <a:picLocks noChangeAspect="1"/>
          </p:cNvPicPr>
          <p:nvPr/>
        </p:nvPicPr>
        <p:blipFill>
          <a:blip r:embed="rId3"/>
          <a:stretch>
            <a:fillRect/>
          </a:stretch>
        </p:blipFill>
        <p:spPr>
          <a:xfrm>
            <a:off x="457200" y="274320"/>
            <a:ext cx="1097280" cy="815645"/>
          </a:xfrm>
          <a:prstGeom prst="rect">
            <a:avLst/>
          </a:prstGeom>
        </p:spPr>
      </p:pic>
      <p:sp>
        <p:nvSpPr>
          <p:cNvPr id="3" name="Text 0"/>
          <p:cNvSpPr txBox="1"/>
          <p:nvPr/>
        </p:nvSpPr>
        <p:spPr>
          <a:xfrm>
            <a:off x="1783080" y="411480"/>
            <a:ext cx="9966960" cy="685800"/>
          </a:xfrm>
          <a:prstGeom prst="rect">
            <a:avLst/>
          </a:prstGeom>
          <a:noFill/>
          <a:ln/>
        </p:spPr>
        <p:txBody>
          <a:bodyPr wrap="square" lIns="0" tIns="0" rIns="0" bIns="0" rtlCol="0" anchor="ctr"/>
          <a:lstStyle/>
          <a:p>
            <a:pPr marL="0" indent="0" algn="l">
              <a:buNone/>
            </a:pPr>
            <a:r>
              <a:rPr lang="en-US" sz="3600" b="1" dirty="0">
                <a:solidFill>
                  <a:srgbClr val="182B40"/>
                </a:solidFill>
                <a:latin typeface="Cambria" pitchFamily="34" charset="0"/>
                <a:ea typeface="Cambria" pitchFamily="34" charset="-122"/>
                <a:cs typeface="Cambria" pitchFamily="34" charset="-120"/>
              </a:rPr>
              <a:t>CO2 Topics</a:t>
            </a:r>
            <a:endParaRPr lang="en-US" sz="3600" dirty="0"/>
          </a:p>
        </p:txBody>
      </p:sp>
      <p:sp>
        <p:nvSpPr>
          <p:cNvPr id="4" name="Text 1"/>
          <p:cNvSpPr txBox="1"/>
          <p:nvPr/>
        </p:nvSpPr>
        <p:spPr>
          <a:xfrm>
            <a:off x="457200" y="6382512"/>
            <a:ext cx="5486400" cy="274320"/>
          </a:xfrm>
          <a:prstGeom prst="rect">
            <a:avLst/>
          </a:prstGeom>
          <a:noFill/>
          <a:ln/>
        </p:spPr>
        <p:txBody>
          <a:bodyPr wrap="square" lIns="0" tIns="0" rIns="0" bIns="0" rtlCol="0" anchor="ctr"/>
          <a:lstStyle/>
          <a:p>
            <a:pPr marL="0" indent="0">
              <a:buNone/>
            </a:pPr>
            <a:r>
              <a:rPr lang="en-US" sz="1100" dirty="0">
                <a:solidFill>
                  <a:srgbClr val="5F696E"/>
                </a:solidFill>
                <a:latin typeface="Calibri" pitchFamily="34" charset="0"/>
                <a:ea typeface="Calibri" pitchFamily="34" charset="-122"/>
                <a:cs typeface="Calibri" pitchFamily="34" charset="-120"/>
              </a:rPr>
              <a:t>Farmer’s Market Price &amp; Sales Tracker</a:t>
            </a:r>
            <a:endParaRPr lang="en-US" sz="1100" dirty="0"/>
          </a:p>
        </p:txBody>
      </p:sp>
      <p:sp>
        <p:nvSpPr>
          <p:cNvPr id="5" name="Shape 2"/>
          <p:cNvSpPr/>
          <p:nvPr/>
        </p:nvSpPr>
        <p:spPr>
          <a:xfrm>
            <a:off x="457200" y="1463040"/>
            <a:ext cx="3575304" cy="2194560"/>
          </a:xfrm>
          <a:prstGeom prst="roundRect">
            <a:avLst>
              <a:gd name="adj" fmla="val 5000"/>
            </a:avLst>
          </a:prstGeom>
          <a:solidFill>
            <a:srgbClr val="FFFFFF"/>
          </a:solidFill>
          <a:ln w="9525">
            <a:solidFill>
              <a:srgbClr val="E4E2D8"/>
            </a:solidFill>
            <a:prstDash val="solid"/>
          </a:ln>
          <a:effectLst>
            <a:outerShdw blurRad="101600" dist="25400" dir="5400000" algn="bl" rotWithShape="0">
              <a:srgbClr val="000000">
                <a:alpha val="10000"/>
              </a:srgbClr>
            </a:outerShdw>
          </a:effectLst>
        </p:spPr>
      </p:sp>
      <p:sp>
        <p:nvSpPr>
          <p:cNvPr id="6" name="Shape 3"/>
          <p:cNvSpPr/>
          <p:nvPr/>
        </p:nvSpPr>
        <p:spPr>
          <a:xfrm>
            <a:off x="685800" y="1691640"/>
            <a:ext cx="502920" cy="502920"/>
          </a:xfrm>
          <a:prstGeom prst="ellipse">
            <a:avLst/>
          </a:prstGeom>
          <a:solidFill>
            <a:srgbClr val="2A754A"/>
          </a:solidFill>
          <a:ln w="12700">
            <a:solidFill>
              <a:srgbClr val="2A754A"/>
            </a:solidFill>
            <a:prstDash val="solid"/>
          </a:ln>
        </p:spPr>
      </p:sp>
      <p:pic>
        <p:nvPicPr>
          <p:cNvPr id="7" name="Image 1" descr="preencoded.png"/>
          <p:cNvPicPr>
            <a:picLocks noChangeAspect="1"/>
          </p:cNvPicPr>
          <p:nvPr/>
        </p:nvPicPr>
        <p:blipFill>
          <a:blip r:embed="rId4"/>
          <a:stretch>
            <a:fillRect/>
          </a:stretch>
        </p:blipFill>
        <p:spPr>
          <a:xfrm>
            <a:off x="816559" y="1822399"/>
            <a:ext cx="241402" cy="241402"/>
          </a:xfrm>
          <a:prstGeom prst="rect">
            <a:avLst/>
          </a:prstGeom>
        </p:spPr>
      </p:pic>
      <p:sp>
        <p:nvSpPr>
          <p:cNvPr id="8" name="Text 4"/>
          <p:cNvSpPr txBox="1"/>
          <p:nvPr/>
        </p:nvSpPr>
        <p:spPr>
          <a:xfrm>
            <a:off x="1325880" y="1691640"/>
            <a:ext cx="2523744" cy="502920"/>
          </a:xfrm>
          <a:prstGeom prst="rect">
            <a:avLst/>
          </a:prstGeom>
          <a:noFill/>
          <a:ln/>
        </p:spPr>
        <p:txBody>
          <a:bodyPr wrap="square" lIns="0" tIns="0" rIns="0" bIns="0" rtlCol="0" anchor="ctr"/>
          <a:lstStyle/>
          <a:p>
            <a:pPr marL="0" indent="0">
              <a:buNone/>
            </a:pPr>
            <a:r>
              <a:rPr lang="en-US" sz="1800" b="1" dirty="0">
                <a:solidFill>
                  <a:srgbClr val="182B40"/>
                </a:solidFill>
                <a:latin typeface="Cambria" pitchFamily="34" charset="0"/>
                <a:ea typeface="Cambria" pitchFamily="34" charset="-122"/>
                <a:cs typeface="Cambria" pitchFamily="34" charset="-120"/>
              </a:rPr>
              <a:t>Input with Scanner</a:t>
            </a:r>
            <a:endParaRPr lang="en-US" sz="1800" dirty="0"/>
          </a:p>
        </p:txBody>
      </p:sp>
      <p:sp>
        <p:nvSpPr>
          <p:cNvPr id="9" name="Text 5"/>
          <p:cNvSpPr txBox="1"/>
          <p:nvPr/>
        </p:nvSpPr>
        <p:spPr>
          <a:xfrm>
            <a:off x="685800" y="2377440"/>
            <a:ext cx="3118104" cy="384048"/>
          </a:xfrm>
          <a:prstGeom prst="roundRect">
            <a:avLst>
              <a:gd name="adj" fmla="val 19048"/>
            </a:avLst>
          </a:prstGeom>
          <a:solidFill>
            <a:srgbClr val="E3EEE7"/>
          </a:solidFill>
          <a:ln>
            <a:solidFill>
              <a:srgbClr val="E3EEE7"/>
            </a:solidFill>
          </a:ln>
        </p:spPr>
        <p:txBody>
          <a:bodyPr wrap="square" lIns="0" tIns="0" rIns="0" bIns="0" rtlCol="0" anchor="ctr"/>
          <a:lstStyle/>
          <a:p>
            <a:pPr marL="0" indent="0" algn="ctr">
              <a:buNone/>
            </a:pPr>
            <a:r>
              <a:rPr lang="en-US" sz="1400" b="1" dirty="0">
                <a:solidFill>
                  <a:srgbClr val="2A754A"/>
                </a:solidFill>
                <a:latin typeface="Courier New" pitchFamily="34" charset="0"/>
                <a:ea typeface="Courier New" pitchFamily="34" charset="-122"/>
                <a:cs typeface="Courier New" pitchFamily="34" charset="-120"/>
              </a:rPr>
              <a:t>sc.nextLine()</a:t>
            </a:r>
            <a:endParaRPr lang="en-US" sz="1400" dirty="0"/>
          </a:p>
        </p:txBody>
      </p:sp>
      <p:sp>
        <p:nvSpPr>
          <p:cNvPr id="10" name="Text 6"/>
          <p:cNvSpPr txBox="1"/>
          <p:nvPr/>
        </p:nvSpPr>
        <p:spPr>
          <a:xfrm>
            <a:off x="685800" y="2880360"/>
            <a:ext cx="3118104" cy="685800"/>
          </a:xfrm>
          <a:prstGeom prst="rect">
            <a:avLst/>
          </a:prstGeom>
          <a:noFill/>
          <a:ln/>
        </p:spPr>
        <p:txBody>
          <a:bodyPr wrap="square" lIns="0" tIns="0" rIns="0" bIns="0" rtlCol="0" anchor="t"/>
          <a:lstStyle/>
          <a:p>
            <a:pPr marL="0" indent="0">
              <a:buNone/>
            </a:pPr>
            <a:r>
              <a:rPr lang="en-US" sz="1400" dirty="0">
                <a:solidFill>
                  <a:srgbClr val="222B33"/>
                </a:solidFill>
                <a:latin typeface="Calibri" pitchFamily="34" charset="0"/>
                <a:ea typeface="Calibri" pitchFamily="34" charset="-122"/>
                <a:cs typeface="Calibri" pitchFamily="34" charset="-120"/>
              </a:rPr>
              <a:t>nextLine() reads text. nextDouble() reads decimals. nextInt() reads whole numbers.</a:t>
            </a:r>
            <a:endParaRPr lang="en-US" sz="1400" dirty="0"/>
          </a:p>
        </p:txBody>
      </p:sp>
      <p:sp>
        <p:nvSpPr>
          <p:cNvPr id="11" name="Shape 7"/>
          <p:cNvSpPr/>
          <p:nvPr/>
        </p:nvSpPr>
        <p:spPr>
          <a:xfrm>
            <a:off x="4306824" y="1463040"/>
            <a:ext cx="3575304" cy="2194560"/>
          </a:xfrm>
          <a:prstGeom prst="roundRect">
            <a:avLst>
              <a:gd name="adj" fmla="val 5000"/>
            </a:avLst>
          </a:prstGeom>
          <a:solidFill>
            <a:srgbClr val="FFFFFF"/>
          </a:solidFill>
          <a:ln w="9525">
            <a:solidFill>
              <a:srgbClr val="E4E2D8"/>
            </a:solidFill>
            <a:prstDash val="solid"/>
          </a:ln>
          <a:effectLst>
            <a:outerShdw blurRad="101600" dist="25400" dir="5400000" algn="bl" rotWithShape="0">
              <a:srgbClr val="000000">
                <a:alpha val="10000"/>
              </a:srgbClr>
            </a:outerShdw>
          </a:effectLst>
        </p:spPr>
      </p:sp>
      <p:sp>
        <p:nvSpPr>
          <p:cNvPr id="12" name="Shape 8"/>
          <p:cNvSpPr/>
          <p:nvPr/>
        </p:nvSpPr>
        <p:spPr>
          <a:xfrm>
            <a:off x="4535424" y="1691640"/>
            <a:ext cx="502920" cy="502920"/>
          </a:xfrm>
          <a:prstGeom prst="ellipse">
            <a:avLst/>
          </a:prstGeom>
          <a:solidFill>
            <a:srgbClr val="2A754A"/>
          </a:solidFill>
          <a:ln w="12700">
            <a:solidFill>
              <a:srgbClr val="2A754A"/>
            </a:solidFill>
            <a:prstDash val="solid"/>
          </a:ln>
        </p:spPr>
      </p:sp>
      <p:pic>
        <p:nvPicPr>
          <p:cNvPr id="13" name="Image 2" descr="preencoded.png"/>
          <p:cNvPicPr>
            <a:picLocks noChangeAspect="1"/>
          </p:cNvPicPr>
          <p:nvPr/>
        </p:nvPicPr>
        <p:blipFill>
          <a:blip r:embed="rId5"/>
          <a:stretch>
            <a:fillRect/>
          </a:stretch>
        </p:blipFill>
        <p:spPr>
          <a:xfrm>
            <a:off x="4666183" y="1822399"/>
            <a:ext cx="241402" cy="241402"/>
          </a:xfrm>
          <a:prstGeom prst="rect">
            <a:avLst/>
          </a:prstGeom>
        </p:spPr>
      </p:pic>
      <p:sp>
        <p:nvSpPr>
          <p:cNvPr id="14" name="Text 9"/>
          <p:cNvSpPr txBox="1"/>
          <p:nvPr/>
        </p:nvSpPr>
        <p:spPr>
          <a:xfrm>
            <a:off x="5175504" y="1691640"/>
            <a:ext cx="2523744" cy="502920"/>
          </a:xfrm>
          <a:prstGeom prst="rect">
            <a:avLst/>
          </a:prstGeom>
          <a:noFill/>
          <a:ln/>
        </p:spPr>
        <p:txBody>
          <a:bodyPr wrap="square" lIns="0" tIns="0" rIns="0" bIns="0" rtlCol="0" anchor="ctr"/>
          <a:lstStyle/>
          <a:p>
            <a:pPr marL="0" indent="0">
              <a:buNone/>
            </a:pPr>
            <a:r>
              <a:rPr lang="en-US" sz="1800" b="1" dirty="0">
                <a:solidFill>
                  <a:srgbClr val="182B40"/>
                </a:solidFill>
                <a:latin typeface="Cambria" pitchFamily="34" charset="0"/>
                <a:ea typeface="Cambria" pitchFamily="34" charset="-122"/>
                <a:cs typeface="Cambria" pitchFamily="34" charset="-120"/>
              </a:rPr>
              <a:t>If statement</a:t>
            </a:r>
            <a:endParaRPr lang="en-US" sz="1800" dirty="0"/>
          </a:p>
        </p:txBody>
      </p:sp>
      <p:sp>
        <p:nvSpPr>
          <p:cNvPr id="15" name="Text 10"/>
          <p:cNvSpPr txBox="1"/>
          <p:nvPr/>
        </p:nvSpPr>
        <p:spPr>
          <a:xfrm>
            <a:off x="4535424" y="2377440"/>
            <a:ext cx="3118104" cy="384048"/>
          </a:xfrm>
          <a:prstGeom prst="roundRect">
            <a:avLst>
              <a:gd name="adj" fmla="val 19048"/>
            </a:avLst>
          </a:prstGeom>
          <a:solidFill>
            <a:srgbClr val="E3EEE7"/>
          </a:solidFill>
          <a:ln>
            <a:solidFill>
              <a:srgbClr val="E3EEE7"/>
            </a:solidFill>
          </a:ln>
        </p:spPr>
        <p:txBody>
          <a:bodyPr wrap="square" lIns="0" tIns="0" rIns="0" bIns="0" rtlCol="0" anchor="ctr"/>
          <a:lstStyle/>
          <a:p>
            <a:pPr marL="0" indent="0" algn="ctr">
              <a:buNone/>
            </a:pPr>
            <a:r>
              <a:rPr lang="en-US" sz="1400" b="1" dirty="0">
                <a:solidFill>
                  <a:srgbClr val="2A754A"/>
                </a:solidFill>
                <a:latin typeface="Courier New" pitchFamily="34" charset="0"/>
                <a:ea typeface="Courier New" pitchFamily="34" charset="-122"/>
                <a:cs typeface="Courier New" pitchFamily="34" charset="-120"/>
              </a:rPr>
              <a:t>if (sales.isEmpty())</a:t>
            </a:r>
            <a:endParaRPr lang="en-US" sz="1400" dirty="0"/>
          </a:p>
        </p:txBody>
      </p:sp>
      <p:sp>
        <p:nvSpPr>
          <p:cNvPr id="16" name="Text 11"/>
          <p:cNvSpPr txBox="1"/>
          <p:nvPr/>
        </p:nvSpPr>
        <p:spPr>
          <a:xfrm>
            <a:off x="4535424" y="2880360"/>
            <a:ext cx="3118104" cy="685800"/>
          </a:xfrm>
          <a:prstGeom prst="rect">
            <a:avLst/>
          </a:prstGeom>
          <a:noFill/>
          <a:ln/>
        </p:spPr>
        <p:txBody>
          <a:bodyPr wrap="square" lIns="0" tIns="0" rIns="0" bIns="0" rtlCol="0" anchor="t"/>
          <a:lstStyle/>
          <a:p>
            <a:pPr marL="0" indent="0">
              <a:buNone/>
            </a:pPr>
            <a:r>
              <a:rPr lang="en-US" sz="1400" dirty="0">
                <a:solidFill>
                  <a:srgbClr val="222B33"/>
                </a:solidFill>
                <a:latin typeface="Calibri" pitchFamily="34" charset="0"/>
                <a:ea typeface="Calibri" pitchFamily="34" charset="-122"/>
                <a:cs typeface="Calibri" pitchFamily="34" charset="-120"/>
              </a:rPr>
              <a:t>Checks if there are any sales records yet.</a:t>
            </a:r>
            <a:endParaRPr lang="en-US" sz="1400" dirty="0"/>
          </a:p>
        </p:txBody>
      </p:sp>
      <p:sp>
        <p:nvSpPr>
          <p:cNvPr id="17" name="Shape 12"/>
          <p:cNvSpPr/>
          <p:nvPr/>
        </p:nvSpPr>
        <p:spPr>
          <a:xfrm>
            <a:off x="8156448" y="1463040"/>
            <a:ext cx="3575304" cy="2194560"/>
          </a:xfrm>
          <a:prstGeom prst="roundRect">
            <a:avLst>
              <a:gd name="adj" fmla="val 5000"/>
            </a:avLst>
          </a:prstGeom>
          <a:solidFill>
            <a:srgbClr val="FFFFFF"/>
          </a:solidFill>
          <a:ln w="9525">
            <a:solidFill>
              <a:srgbClr val="E4E2D8"/>
            </a:solidFill>
            <a:prstDash val="solid"/>
          </a:ln>
          <a:effectLst>
            <a:outerShdw blurRad="101600" dist="25400" dir="5400000" algn="bl" rotWithShape="0">
              <a:srgbClr val="000000">
                <a:alpha val="10000"/>
              </a:srgbClr>
            </a:outerShdw>
          </a:effectLst>
        </p:spPr>
      </p:sp>
      <p:sp>
        <p:nvSpPr>
          <p:cNvPr id="18" name="Shape 13"/>
          <p:cNvSpPr/>
          <p:nvPr/>
        </p:nvSpPr>
        <p:spPr>
          <a:xfrm>
            <a:off x="8385048" y="1691640"/>
            <a:ext cx="502920" cy="502920"/>
          </a:xfrm>
          <a:prstGeom prst="ellipse">
            <a:avLst/>
          </a:prstGeom>
          <a:solidFill>
            <a:srgbClr val="2A754A"/>
          </a:solidFill>
          <a:ln w="12700">
            <a:solidFill>
              <a:srgbClr val="2A754A"/>
            </a:solidFill>
            <a:prstDash val="solid"/>
          </a:ln>
        </p:spPr>
      </p:sp>
      <p:pic>
        <p:nvPicPr>
          <p:cNvPr id="19" name="Image 3" descr="preencoded.png"/>
          <p:cNvPicPr>
            <a:picLocks noChangeAspect="1"/>
          </p:cNvPicPr>
          <p:nvPr/>
        </p:nvPicPr>
        <p:blipFill>
          <a:blip r:embed="rId6"/>
          <a:stretch>
            <a:fillRect/>
          </a:stretch>
        </p:blipFill>
        <p:spPr>
          <a:xfrm>
            <a:off x="8515807" y="1822399"/>
            <a:ext cx="241402" cy="241402"/>
          </a:xfrm>
          <a:prstGeom prst="rect">
            <a:avLst/>
          </a:prstGeom>
        </p:spPr>
      </p:pic>
      <p:sp>
        <p:nvSpPr>
          <p:cNvPr id="20" name="Text 14"/>
          <p:cNvSpPr txBox="1"/>
          <p:nvPr/>
        </p:nvSpPr>
        <p:spPr>
          <a:xfrm>
            <a:off x="9025128" y="1691640"/>
            <a:ext cx="2523744" cy="502920"/>
          </a:xfrm>
          <a:prstGeom prst="rect">
            <a:avLst/>
          </a:prstGeom>
          <a:noFill/>
          <a:ln/>
        </p:spPr>
        <p:txBody>
          <a:bodyPr wrap="square" lIns="0" tIns="0" rIns="0" bIns="0" rtlCol="0" anchor="ctr"/>
          <a:lstStyle/>
          <a:p>
            <a:pPr marL="0" indent="0">
              <a:buNone/>
            </a:pPr>
            <a:r>
              <a:rPr lang="en-US" sz="1800" b="1" dirty="0">
                <a:solidFill>
                  <a:srgbClr val="182B40"/>
                </a:solidFill>
                <a:latin typeface="Cambria" pitchFamily="34" charset="0"/>
                <a:ea typeface="Cambria" pitchFamily="34" charset="-122"/>
                <a:cs typeface="Cambria" pitchFamily="34" charset="-120"/>
              </a:rPr>
              <a:t>If-else idea</a:t>
            </a:r>
            <a:endParaRPr lang="en-US" sz="1800" dirty="0"/>
          </a:p>
        </p:txBody>
      </p:sp>
      <p:sp>
        <p:nvSpPr>
          <p:cNvPr id="21" name="Text 15"/>
          <p:cNvSpPr txBox="1"/>
          <p:nvPr/>
        </p:nvSpPr>
        <p:spPr>
          <a:xfrm>
            <a:off x="8385048" y="2377440"/>
            <a:ext cx="3118104" cy="384048"/>
          </a:xfrm>
          <a:prstGeom prst="roundRect">
            <a:avLst>
              <a:gd name="adj" fmla="val 19048"/>
            </a:avLst>
          </a:prstGeom>
          <a:solidFill>
            <a:srgbClr val="E3EEE7"/>
          </a:solidFill>
          <a:ln>
            <a:solidFill>
              <a:srgbClr val="E3EEE7"/>
            </a:solidFill>
          </a:ln>
        </p:spPr>
        <p:txBody>
          <a:bodyPr wrap="square" lIns="0" tIns="0" rIns="0" bIns="0" rtlCol="0" anchor="ctr"/>
          <a:lstStyle/>
          <a:p>
            <a:pPr marL="0" indent="0" algn="ctr">
              <a:buNone/>
            </a:pPr>
            <a:r>
              <a:rPr lang="en-US" sz="1400" b="1" dirty="0">
                <a:solidFill>
                  <a:srgbClr val="2A754A"/>
                </a:solidFill>
                <a:latin typeface="Courier New" pitchFamily="34" charset="0"/>
                <a:ea typeface="Courier New" pitchFamily="34" charset="-122"/>
                <a:cs typeface="Courier New" pitchFamily="34" charset="-120"/>
              </a:rPr>
              <a:t>if ... else</a:t>
            </a:r>
            <a:endParaRPr lang="en-US" sz="1400" dirty="0"/>
          </a:p>
        </p:txBody>
      </p:sp>
      <p:sp>
        <p:nvSpPr>
          <p:cNvPr id="22" name="Text 16"/>
          <p:cNvSpPr txBox="1"/>
          <p:nvPr/>
        </p:nvSpPr>
        <p:spPr>
          <a:xfrm>
            <a:off x="8385048" y="2880360"/>
            <a:ext cx="3118104" cy="685800"/>
          </a:xfrm>
          <a:prstGeom prst="rect">
            <a:avLst/>
          </a:prstGeom>
          <a:noFill/>
          <a:ln/>
        </p:spPr>
        <p:txBody>
          <a:bodyPr wrap="square" lIns="0" tIns="0" rIns="0" bIns="0" rtlCol="0" anchor="t"/>
          <a:lstStyle/>
          <a:p>
            <a:pPr marL="0" indent="0">
              <a:buNone/>
            </a:pPr>
            <a:r>
              <a:rPr lang="en-US" sz="1400" dirty="0">
                <a:solidFill>
                  <a:srgbClr val="222B33"/>
                </a:solidFill>
                <a:latin typeface="Calibri" pitchFamily="34" charset="0"/>
                <a:ea typeface="Calibri" pitchFamily="34" charset="-122"/>
                <a:cs typeface="Calibri" pitchFamily="34" charset="-120"/>
              </a:rPr>
              <a:t>Shows the records if they exist. Otherwise it says there is no data.</a:t>
            </a:r>
            <a:endParaRPr lang="en-US" sz="1400" dirty="0"/>
          </a:p>
        </p:txBody>
      </p:sp>
      <p:sp>
        <p:nvSpPr>
          <p:cNvPr id="23" name="Shape 17"/>
          <p:cNvSpPr/>
          <p:nvPr/>
        </p:nvSpPr>
        <p:spPr>
          <a:xfrm>
            <a:off x="457200" y="3840480"/>
            <a:ext cx="3575304" cy="2194560"/>
          </a:xfrm>
          <a:prstGeom prst="roundRect">
            <a:avLst>
              <a:gd name="adj" fmla="val 5000"/>
            </a:avLst>
          </a:prstGeom>
          <a:solidFill>
            <a:srgbClr val="FFFFFF"/>
          </a:solidFill>
          <a:ln w="9525">
            <a:solidFill>
              <a:srgbClr val="E4E2D8"/>
            </a:solidFill>
            <a:prstDash val="solid"/>
          </a:ln>
          <a:effectLst>
            <a:outerShdw blurRad="101600" dist="25400" dir="5400000" algn="bl" rotWithShape="0">
              <a:srgbClr val="000000">
                <a:alpha val="10000"/>
              </a:srgbClr>
            </a:outerShdw>
          </a:effectLst>
        </p:spPr>
      </p:sp>
      <p:sp>
        <p:nvSpPr>
          <p:cNvPr id="24" name="Shape 18"/>
          <p:cNvSpPr/>
          <p:nvPr/>
        </p:nvSpPr>
        <p:spPr>
          <a:xfrm>
            <a:off x="685800" y="4069080"/>
            <a:ext cx="502920" cy="502920"/>
          </a:xfrm>
          <a:prstGeom prst="ellipse">
            <a:avLst/>
          </a:prstGeom>
          <a:solidFill>
            <a:srgbClr val="2A754A"/>
          </a:solidFill>
          <a:ln w="12700">
            <a:solidFill>
              <a:srgbClr val="2A754A"/>
            </a:solidFill>
            <a:prstDash val="solid"/>
          </a:ln>
        </p:spPr>
      </p:sp>
      <p:pic>
        <p:nvPicPr>
          <p:cNvPr id="25" name="Image 4" descr="preencoded.png"/>
          <p:cNvPicPr>
            <a:picLocks noChangeAspect="1"/>
          </p:cNvPicPr>
          <p:nvPr/>
        </p:nvPicPr>
        <p:blipFill>
          <a:blip r:embed="rId7"/>
          <a:stretch>
            <a:fillRect/>
          </a:stretch>
        </p:blipFill>
        <p:spPr>
          <a:xfrm>
            <a:off x="816559" y="4199839"/>
            <a:ext cx="241402" cy="241402"/>
          </a:xfrm>
          <a:prstGeom prst="rect">
            <a:avLst/>
          </a:prstGeom>
        </p:spPr>
      </p:pic>
      <p:sp>
        <p:nvSpPr>
          <p:cNvPr id="26" name="Text 19"/>
          <p:cNvSpPr txBox="1"/>
          <p:nvPr/>
        </p:nvSpPr>
        <p:spPr>
          <a:xfrm>
            <a:off x="1325880" y="4069080"/>
            <a:ext cx="2523744" cy="502920"/>
          </a:xfrm>
          <a:prstGeom prst="rect">
            <a:avLst/>
          </a:prstGeom>
          <a:noFill/>
          <a:ln/>
        </p:spPr>
        <p:txBody>
          <a:bodyPr wrap="square" lIns="0" tIns="0" rIns="0" bIns="0" rtlCol="0" anchor="ctr"/>
          <a:lstStyle/>
          <a:p>
            <a:pPr marL="0" indent="0">
              <a:buNone/>
            </a:pPr>
            <a:r>
              <a:rPr lang="en-US" sz="1800" b="1" dirty="0">
                <a:solidFill>
                  <a:srgbClr val="182B40"/>
                </a:solidFill>
                <a:latin typeface="Cambria" pitchFamily="34" charset="0"/>
                <a:ea typeface="Cambria" pitchFamily="34" charset="-122"/>
                <a:cs typeface="Cambria" pitchFamily="34" charset="-120"/>
              </a:rPr>
              <a:t>Switch statement</a:t>
            </a:r>
            <a:endParaRPr lang="en-US" sz="1800" dirty="0"/>
          </a:p>
        </p:txBody>
      </p:sp>
      <p:sp>
        <p:nvSpPr>
          <p:cNvPr id="27" name="Text 20"/>
          <p:cNvSpPr txBox="1"/>
          <p:nvPr/>
        </p:nvSpPr>
        <p:spPr>
          <a:xfrm>
            <a:off x="685800" y="4754880"/>
            <a:ext cx="3118104" cy="384048"/>
          </a:xfrm>
          <a:prstGeom prst="roundRect">
            <a:avLst>
              <a:gd name="adj" fmla="val 19048"/>
            </a:avLst>
          </a:prstGeom>
          <a:solidFill>
            <a:srgbClr val="E3EEE7"/>
          </a:solidFill>
          <a:ln>
            <a:solidFill>
              <a:srgbClr val="E3EEE7"/>
            </a:solidFill>
          </a:ln>
        </p:spPr>
        <p:txBody>
          <a:bodyPr wrap="square" lIns="0" tIns="0" rIns="0" bIns="0" rtlCol="0" anchor="ctr"/>
          <a:lstStyle/>
          <a:p>
            <a:pPr marL="0" indent="0" algn="ctr">
              <a:buNone/>
            </a:pPr>
            <a:r>
              <a:rPr lang="en-US" sz="1400" b="1" dirty="0">
                <a:solidFill>
                  <a:srgbClr val="2A754A"/>
                </a:solidFill>
                <a:latin typeface="Courier New" pitchFamily="34" charset="0"/>
                <a:ea typeface="Courier New" pitchFamily="34" charset="-122"/>
                <a:cs typeface="Courier New" pitchFamily="34" charset="-120"/>
              </a:rPr>
              <a:t>case 1 … case 5</a:t>
            </a:r>
            <a:endParaRPr lang="en-US" sz="1400" dirty="0"/>
          </a:p>
        </p:txBody>
      </p:sp>
      <p:sp>
        <p:nvSpPr>
          <p:cNvPr id="28" name="Text 21"/>
          <p:cNvSpPr txBox="1"/>
          <p:nvPr/>
        </p:nvSpPr>
        <p:spPr>
          <a:xfrm>
            <a:off x="685800" y="5257800"/>
            <a:ext cx="3118104" cy="685800"/>
          </a:xfrm>
          <a:prstGeom prst="rect">
            <a:avLst/>
          </a:prstGeom>
          <a:noFill/>
          <a:ln/>
        </p:spPr>
        <p:txBody>
          <a:bodyPr wrap="square" lIns="0" tIns="0" rIns="0" bIns="0" rtlCol="0" anchor="t"/>
          <a:lstStyle/>
          <a:p>
            <a:pPr marL="0" indent="0">
              <a:buNone/>
            </a:pPr>
            <a:r>
              <a:rPr lang="en-US" sz="1400" dirty="0">
                <a:solidFill>
                  <a:srgbClr val="222B33"/>
                </a:solidFill>
                <a:latin typeface="Calibri" pitchFamily="34" charset="0"/>
                <a:ea typeface="Calibri" pitchFamily="34" charset="-122"/>
                <a:cs typeface="Calibri" pitchFamily="34" charset="-120"/>
              </a:rPr>
              <a:t>Runs the menu option that the user picks.</a:t>
            </a:r>
            <a:endParaRPr lang="en-US" sz="1400" dirty="0"/>
          </a:p>
        </p:txBody>
      </p:sp>
      <p:sp>
        <p:nvSpPr>
          <p:cNvPr id="29" name="Shape 22"/>
          <p:cNvSpPr/>
          <p:nvPr/>
        </p:nvSpPr>
        <p:spPr>
          <a:xfrm>
            <a:off x="4306824" y="3840480"/>
            <a:ext cx="3575304" cy="2194560"/>
          </a:xfrm>
          <a:prstGeom prst="roundRect">
            <a:avLst>
              <a:gd name="adj" fmla="val 5000"/>
            </a:avLst>
          </a:prstGeom>
          <a:solidFill>
            <a:srgbClr val="FFFFFF"/>
          </a:solidFill>
          <a:ln w="9525">
            <a:solidFill>
              <a:srgbClr val="E4E2D8"/>
            </a:solidFill>
            <a:prstDash val="solid"/>
          </a:ln>
          <a:effectLst>
            <a:outerShdw blurRad="101600" dist="25400" dir="5400000" algn="bl" rotWithShape="0">
              <a:srgbClr val="000000">
                <a:alpha val="10000"/>
              </a:srgbClr>
            </a:outerShdw>
          </a:effectLst>
        </p:spPr>
      </p:sp>
      <p:sp>
        <p:nvSpPr>
          <p:cNvPr id="30" name="Shape 23"/>
          <p:cNvSpPr/>
          <p:nvPr/>
        </p:nvSpPr>
        <p:spPr>
          <a:xfrm>
            <a:off x="4535424" y="4069080"/>
            <a:ext cx="502920" cy="502920"/>
          </a:xfrm>
          <a:prstGeom prst="ellipse">
            <a:avLst/>
          </a:prstGeom>
          <a:solidFill>
            <a:srgbClr val="2A754A"/>
          </a:solidFill>
          <a:ln w="12700">
            <a:solidFill>
              <a:srgbClr val="2A754A"/>
            </a:solidFill>
            <a:prstDash val="solid"/>
          </a:ln>
        </p:spPr>
      </p:sp>
      <p:pic>
        <p:nvPicPr>
          <p:cNvPr id="31" name="Image 5" descr="preencoded.png"/>
          <p:cNvPicPr>
            <a:picLocks noChangeAspect="1"/>
          </p:cNvPicPr>
          <p:nvPr/>
        </p:nvPicPr>
        <p:blipFill>
          <a:blip r:embed="rId8"/>
          <a:stretch>
            <a:fillRect/>
          </a:stretch>
        </p:blipFill>
        <p:spPr>
          <a:xfrm>
            <a:off x="4666183" y="4199839"/>
            <a:ext cx="241402" cy="241402"/>
          </a:xfrm>
          <a:prstGeom prst="rect">
            <a:avLst/>
          </a:prstGeom>
        </p:spPr>
      </p:pic>
      <p:sp>
        <p:nvSpPr>
          <p:cNvPr id="32" name="Text 24"/>
          <p:cNvSpPr txBox="1"/>
          <p:nvPr/>
        </p:nvSpPr>
        <p:spPr>
          <a:xfrm>
            <a:off x="5175504" y="4069080"/>
            <a:ext cx="2523744" cy="502920"/>
          </a:xfrm>
          <a:prstGeom prst="rect">
            <a:avLst/>
          </a:prstGeom>
          <a:noFill/>
          <a:ln/>
        </p:spPr>
        <p:txBody>
          <a:bodyPr wrap="square" lIns="0" tIns="0" rIns="0" bIns="0" rtlCol="0" anchor="ctr"/>
          <a:lstStyle/>
          <a:p>
            <a:pPr marL="0" indent="0">
              <a:buNone/>
            </a:pPr>
            <a:r>
              <a:rPr lang="en-US" sz="1800" b="1" dirty="0">
                <a:solidFill>
                  <a:srgbClr val="182B40"/>
                </a:solidFill>
                <a:latin typeface="Cambria" pitchFamily="34" charset="0"/>
                <a:ea typeface="Cambria" pitchFamily="34" charset="-122"/>
                <a:cs typeface="Cambria" pitchFamily="34" charset="-120"/>
              </a:rPr>
              <a:t>Loops</a:t>
            </a:r>
            <a:endParaRPr lang="en-US" sz="1800" dirty="0"/>
          </a:p>
        </p:txBody>
      </p:sp>
      <p:sp>
        <p:nvSpPr>
          <p:cNvPr id="33" name="Text 25"/>
          <p:cNvSpPr txBox="1"/>
          <p:nvPr/>
        </p:nvSpPr>
        <p:spPr>
          <a:xfrm>
            <a:off x="4535424" y="4754880"/>
            <a:ext cx="3118104" cy="384048"/>
          </a:xfrm>
          <a:prstGeom prst="roundRect">
            <a:avLst>
              <a:gd name="adj" fmla="val 19048"/>
            </a:avLst>
          </a:prstGeom>
          <a:solidFill>
            <a:srgbClr val="E3EEE7"/>
          </a:solidFill>
          <a:ln>
            <a:solidFill>
              <a:srgbClr val="E3EEE7"/>
            </a:solidFill>
          </a:ln>
        </p:spPr>
        <p:txBody>
          <a:bodyPr wrap="square" lIns="0" tIns="0" rIns="0" bIns="0" rtlCol="0" anchor="ctr"/>
          <a:lstStyle/>
          <a:p>
            <a:pPr marL="0" indent="0" algn="ctr">
              <a:buNone/>
            </a:pPr>
            <a:r>
              <a:rPr lang="en-US" sz="1400" b="1" dirty="0">
                <a:solidFill>
                  <a:srgbClr val="2A754A"/>
                </a:solidFill>
                <a:latin typeface="Courier New" pitchFamily="34" charset="0"/>
                <a:ea typeface="Courier New" pitchFamily="34" charset="-122"/>
                <a:cs typeface="Courier New" pitchFamily="34" charset="-120"/>
              </a:rPr>
              <a:t>for / do-while</a:t>
            </a:r>
            <a:endParaRPr lang="en-US" sz="1400" dirty="0"/>
          </a:p>
        </p:txBody>
      </p:sp>
      <p:sp>
        <p:nvSpPr>
          <p:cNvPr id="34" name="Text 26"/>
          <p:cNvSpPr txBox="1"/>
          <p:nvPr/>
        </p:nvSpPr>
        <p:spPr>
          <a:xfrm>
            <a:off x="4535424" y="5257800"/>
            <a:ext cx="3118104" cy="685800"/>
          </a:xfrm>
          <a:prstGeom prst="rect">
            <a:avLst/>
          </a:prstGeom>
          <a:noFill/>
          <a:ln/>
        </p:spPr>
        <p:txBody>
          <a:bodyPr wrap="square" lIns="0" tIns="0" rIns="0" bIns="0" rtlCol="0" anchor="t"/>
          <a:lstStyle/>
          <a:p>
            <a:pPr marL="0" indent="0">
              <a:buNone/>
            </a:pPr>
            <a:r>
              <a:rPr lang="en-US" sz="1400" dirty="0">
                <a:solidFill>
                  <a:srgbClr val="222B33"/>
                </a:solidFill>
                <a:latin typeface="Calibri" pitchFamily="34" charset="0"/>
                <a:ea typeface="Calibri" pitchFamily="34" charset="-122"/>
                <a:cs typeface="Calibri" pitchFamily="34" charset="-120"/>
              </a:rPr>
              <a:t>for shows all records. do-while keeps the menu running.</a:t>
            </a:r>
            <a:endParaRPr lang="en-US" sz="1400" dirty="0"/>
          </a:p>
        </p:txBody>
      </p:sp>
      <p:sp>
        <p:nvSpPr>
          <p:cNvPr id="35" name="Shape 27"/>
          <p:cNvSpPr/>
          <p:nvPr/>
        </p:nvSpPr>
        <p:spPr>
          <a:xfrm>
            <a:off x="8156448" y="3840480"/>
            <a:ext cx="3575304" cy="2194560"/>
          </a:xfrm>
          <a:prstGeom prst="roundRect">
            <a:avLst>
              <a:gd name="adj" fmla="val 5000"/>
            </a:avLst>
          </a:prstGeom>
          <a:solidFill>
            <a:srgbClr val="FFFFFF"/>
          </a:solidFill>
          <a:ln w="9525">
            <a:solidFill>
              <a:srgbClr val="E4E2D8"/>
            </a:solidFill>
            <a:prstDash val="solid"/>
          </a:ln>
          <a:effectLst>
            <a:outerShdw blurRad="101600" dist="25400" dir="5400000" algn="bl" rotWithShape="0">
              <a:srgbClr val="000000">
                <a:alpha val="10000"/>
              </a:srgbClr>
            </a:outerShdw>
          </a:effectLst>
        </p:spPr>
      </p:sp>
      <p:sp>
        <p:nvSpPr>
          <p:cNvPr id="36" name="Shape 28"/>
          <p:cNvSpPr/>
          <p:nvPr/>
        </p:nvSpPr>
        <p:spPr>
          <a:xfrm>
            <a:off x="8385048" y="4069080"/>
            <a:ext cx="502920" cy="502920"/>
          </a:xfrm>
          <a:prstGeom prst="ellipse">
            <a:avLst/>
          </a:prstGeom>
          <a:solidFill>
            <a:srgbClr val="2A754A"/>
          </a:solidFill>
          <a:ln w="12700">
            <a:solidFill>
              <a:srgbClr val="2A754A"/>
            </a:solidFill>
            <a:prstDash val="solid"/>
          </a:ln>
        </p:spPr>
      </p:sp>
      <p:pic>
        <p:nvPicPr>
          <p:cNvPr id="37" name="Image 6" descr="preencoded.png"/>
          <p:cNvPicPr>
            <a:picLocks noChangeAspect="1"/>
          </p:cNvPicPr>
          <p:nvPr/>
        </p:nvPicPr>
        <p:blipFill>
          <a:blip r:embed="rId9"/>
          <a:stretch>
            <a:fillRect/>
          </a:stretch>
        </p:blipFill>
        <p:spPr>
          <a:xfrm>
            <a:off x="8515807" y="4199839"/>
            <a:ext cx="241402" cy="241402"/>
          </a:xfrm>
          <a:prstGeom prst="rect">
            <a:avLst/>
          </a:prstGeom>
        </p:spPr>
      </p:pic>
      <p:sp>
        <p:nvSpPr>
          <p:cNvPr id="38" name="Text 29"/>
          <p:cNvSpPr txBox="1"/>
          <p:nvPr/>
        </p:nvSpPr>
        <p:spPr>
          <a:xfrm>
            <a:off x="9025128" y="4069080"/>
            <a:ext cx="2523744" cy="502920"/>
          </a:xfrm>
          <a:prstGeom prst="rect">
            <a:avLst/>
          </a:prstGeom>
          <a:noFill/>
          <a:ln/>
        </p:spPr>
        <p:txBody>
          <a:bodyPr wrap="square" lIns="0" tIns="0" rIns="0" bIns="0" rtlCol="0" anchor="ctr"/>
          <a:lstStyle/>
          <a:p>
            <a:pPr marL="0" indent="0">
              <a:buNone/>
            </a:pPr>
            <a:r>
              <a:rPr lang="en-US" sz="1800" b="1" dirty="0">
                <a:solidFill>
                  <a:srgbClr val="182B40"/>
                </a:solidFill>
                <a:latin typeface="Cambria" pitchFamily="34" charset="0"/>
                <a:ea typeface="Cambria" pitchFamily="34" charset="-122"/>
                <a:cs typeface="Cambria" pitchFamily="34" charset="-120"/>
              </a:rPr>
              <a:t>Break statement</a:t>
            </a:r>
            <a:endParaRPr lang="en-US" sz="1800" dirty="0"/>
          </a:p>
        </p:txBody>
      </p:sp>
      <p:sp>
        <p:nvSpPr>
          <p:cNvPr id="39" name="Text 30"/>
          <p:cNvSpPr txBox="1"/>
          <p:nvPr/>
        </p:nvSpPr>
        <p:spPr>
          <a:xfrm>
            <a:off x="8385048" y="4754880"/>
            <a:ext cx="3118104" cy="384048"/>
          </a:xfrm>
          <a:prstGeom prst="roundRect">
            <a:avLst>
              <a:gd name="adj" fmla="val 19048"/>
            </a:avLst>
          </a:prstGeom>
          <a:solidFill>
            <a:srgbClr val="E3EEE7"/>
          </a:solidFill>
          <a:ln>
            <a:solidFill>
              <a:srgbClr val="E3EEE7"/>
            </a:solidFill>
          </a:ln>
        </p:spPr>
        <p:txBody>
          <a:bodyPr wrap="square" lIns="0" tIns="0" rIns="0" bIns="0" rtlCol="0" anchor="ctr"/>
          <a:lstStyle/>
          <a:p>
            <a:pPr marL="0" indent="0" algn="ctr">
              <a:buNone/>
            </a:pPr>
            <a:r>
              <a:rPr lang="en-US" sz="1400" b="1" dirty="0">
                <a:solidFill>
                  <a:srgbClr val="2A754A"/>
                </a:solidFill>
                <a:latin typeface="Courier New" pitchFamily="34" charset="0"/>
                <a:ea typeface="Courier New" pitchFamily="34" charset="-122"/>
                <a:cs typeface="Courier New" pitchFamily="34" charset="-120"/>
              </a:rPr>
              <a:t>break;</a:t>
            </a:r>
            <a:endParaRPr lang="en-US" sz="1400" dirty="0"/>
          </a:p>
        </p:txBody>
      </p:sp>
      <p:sp>
        <p:nvSpPr>
          <p:cNvPr id="40" name="Text 31"/>
          <p:cNvSpPr txBox="1"/>
          <p:nvPr/>
        </p:nvSpPr>
        <p:spPr>
          <a:xfrm>
            <a:off x="8385048" y="5257800"/>
            <a:ext cx="3118104" cy="685800"/>
          </a:xfrm>
          <a:prstGeom prst="rect">
            <a:avLst/>
          </a:prstGeom>
          <a:noFill/>
          <a:ln/>
        </p:spPr>
        <p:txBody>
          <a:bodyPr wrap="square" lIns="0" tIns="0" rIns="0" bIns="0" rtlCol="0" anchor="t"/>
          <a:lstStyle/>
          <a:p>
            <a:pPr marL="0" indent="0">
              <a:buNone/>
            </a:pPr>
            <a:r>
              <a:rPr lang="en-US" sz="1400" dirty="0">
                <a:solidFill>
                  <a:srgbClr val="222B33"/>
                </a:solidFill>
                <a:latin typeface="Calibri" pitchFamily="34" charset="0"/>
                <a:ea typeface="Calibri" pitchFamily="34" charset="-122"/>
                <a:cs typeface="Calibri" pitchFamily="34" charset="-120"/>
              </a:rPr>
              <a:t>Used after every case so the program stops at the right place.</a:t>
            </a:r>
            <a:endParaRPr lang="en-US" sz="1400" dirty="0"/>
          </a:p>
        </p:txBody>
      </p:sp>
      <p:sp>
        <p:nvSpPr>
          <p:cNvPr id="41" name="Slide Number Placeholder 0"/>
          <p:cNvSpPr>
            <a:spLocks noGrp="1"/>
          </p:cNvSpPr>
          <p:nvPr>
            <p:ph type="sldNum" sz="quarter" idx="4294967295"/>
          </p:nvPr>
        </p:nvSpPr>
        <p:spPr>
          <a:xfrm>
            <a:off x="11247120" y="6382512"/>
            <a:ext cx="48463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F696E"/>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7F2"/>
        </a:solidFill>
        <a:effectLst/>
      </p:bgPr>
    </p:bg>
    <p:spTree>
      <p:nvGrpSpPr>
        <p:cNvPr id="1" name=""/>
        <p:cNvGrpSpPr/>
        <p:nvPr/>
      </p:nvGrpSpPr>
      <p:grpSpPr>
        <a:xfrm>
          <a:off x="0" y="0"/>
          <a:ext cx="0" cy="0"/>
          <a:chOff x="0" y="0"/>
          <a:chExt cx="0" cy="0"/>
        </a:xfrm>
      </p:grpSpPr>
      <p:pic>
        <p:nvPicPr>
          <p:cNvPr id="2" name="Image 0" descr="/home/claude/orig_x/ppt/media/image1.png"/>
          <p:cNvPicPr>
            <a:picLocks noChangeAspect="1"/>
          </p:cNvPicPr>
          <p:nvPr/>
        </p:nvPicPr>
        <p:blipFill>
          <a:blip r:embed="rId3"/>
          <a:stretch>
            <a:fillRect/>
          </a:stretch>
        </p:blipFill>
        <p:spPr>
          <a:xfrm>
            <a:off x="457200" y="274320"/>
            <a:ext cx="1097280" cy="815645"/>
          </a:xfrm>
          <a:prstGeom prst="rect">
            <a:avLst/>
          </a:prstGeom>
        </p:spPr>
      </p:pic>
      <p:sp>
        <p:nvSpPr>
          <p:cNvPr id="3" name="Text 0"/>
          <p:cNvSpPr txBox="1"/>
          <p:nvPr/>
        </p:nvSpPr>
        <p:spPr>
          <a:xfrm>
            <a:off x="1783080" y="411480"/>
            <a:ext cx="9966960" cy="685800"/>
          </a:xfrm>
          <a:prstGeom prst="rect">
            <a:avLst/>
          </a:prstGeom>
          <a:noFill/>
          <a:ln/>
        </p:spPr>
        <p:txBody>
          <a:bodyPr wrap="square" lIns="0" tIns="0" rIns="0" bIns="0" rtlCol="0" anchor="ctr"/>
          <a:lstStyle/>
          <a:p>
            <a:pPr marL="0" indent="0" algn="l">
              <a:buNone/>
            </a:pPr>
            <a:r>
              <a:rPr lang="en-US" sz="3600" b="1" dirty="0">
                <a:solidFill>
                  <a:srgbClr val="182B40"/>
                </a:solidFill>
                <a:latin typeface="Cambria" pitchFamily="34" charset="0"/>
                <a:ea typeface="Cambria" pitchFamily="34" charset="-122"/>
                <a:cs typeface="Cambria" pitchFamily="34" charset="-120"/>
              </a:rPr>
              <a:t>CO3 Topics</a:t>
            </a:r>
            <a:endParaRPr lang="en-US" sz="3600" dirty="0"/>
          </a:p>
        </p:txBody>
      </p:sp>
      <p:sp>
        <p:nvSpPr>
          <p:cNvPr id="4" name="Text 1"/>
          <p:cNvSpPr txBox="1"/>
          <p:nvPr/>
        </p:nvSpPr>
        <p:spPr>
          <a:xfrm>
            <a:off x="457200" y="6382512"/>
            <a:ext cx="5486400" cy="274320"/>
          </a:xfrm>
          <a:prstGeom prst="rect">
            <a:avLst/>
          </a:prstGeom>
          <a:noFill/>
          <a:ln/>
        </p:spPr>
        <p:txBody>
          <a:bodyPr wrap="square" lIns="0" tIns="0" rIns="0" bIns="0" rtlCol="0" anchor="ctr"/>
          <a:lstStyle/>
          <a:p>
            <a:pPr marL="0" indent="0">
              <a:buNone/>
            </a:pPr>
            <a:r>
              <a:rPr lang="en-US" sz="1100" dirty="0">
                <a:solidFill>
                  <a:srgbClr val="5F696E"/>
                </a:solidFill>
                <a:latin typeface="Calibri" pitchFamily="34" charset="0"/>
                <a:ea typeface="Calibri" pitchFamily="34" charset="-122"/>
                <a:cs typeface="Calibri" pitchFamily="34" charset="-120"/>
              </a:rPr>
              <a:t>Farmer’s Market Price &amp; Sales Tracker</a:t>
            </a:r>
            <a:endParaRPr lang="en-US" sz="1100" dirty="0"/>
          </a:p>
        </p:txBody>
      </p:sp>
      <p:sp>
        <p:nvSpPr>
          <p:cNvPr id="5" name="Shape 2"/>
          <p:cNvSpPr/>
          <p:nvPr/>
        </p:nvSpPr>
        <p:spPr>
          <a:xfrm>
            <a:off x="457200" y="1463040"/>
            <a:ext cx="5394960" cy="4526280"/>
          </a:xfrm>
          <a:prstGeom prst="roundRect">
            <a:avLst>
              <a:gd name="adj" fmla="val 2424"/>
            </a:avLst>
          </a:prstGeom>
          <a:solidFill>
            <a:srgbClr val="FFFFFF"/>
          </a:solidFill>
          <a:ln w="9525">
            <a:solidFill>
              <a:srgbClr val="E4E2D8"/>
            </a:solidFill>
            <a:prstDash val="solid"/>
          </a:ln>
          <a:effectLst>
            <a:outerShdw blurRad="101600" dist="25400" dir="5400000" algn="bl" rotWithShape="0">
              <a:srgbClr val="000000">
                <a:alpha val="10000"/>
              </a:srgbClr>
            </a:outerShdw>
          </a:effectLst>
        </p:spPr>
      </p:sp>
      <p:sp>
        <p:nvSpPr>
          <p:cNvPr id="6" name="Shape 3"/>
          <p:cNvSpPr/>
          <p:nvPr/>
        </p:nvSpPr>
        <p:spPr>
          <a:xfrm>
            <a:off x="777240" y="1737360"/>
            <a:ext cx="594360" cy="594360"/>
          </a:xfrm>
          <a:prstGeom prst="ellipse">
            <a:avLst/>
          </a:prstGeom>
          <a:solidFill>
            <a:srgbClr val="2A754A"/>
          </a:solidFill>
          <a:ln w="12700">
            <a:solidFill>
              <a:srgbClr val="2A754A"/>
            </a:solidFill>
            <a:prstDash val="solid"/>
          </a:ln>
        </p:spPr>
      </p:sp>
      <p:pic>
        <p:nvPicPr>
          <p:cNvPr id="7" name="Image 1" descr="preencoded.png"/>
          <p:cNvPicPr>
            <a:picLocks noChangeAspect="1"/>
          </p:cNvPicPr>
          <p:nvPr/>
        </p:nvPicPr>
        <p:blipFill>
          <a:blip r:embed="rId4"/>
          <a:stretch>
            <a:fillRect/>
          </a:stretch>
        </p:blipFill>
        <p:spPr>
          <a:xfrm>
            <a:off x="931774" y="1891894"/>
            <a:ext cx="285293" cy="285293"/>
          </a:xfrm>
          <a:prstGeom prst="rect">
            <a:avLst/>
          </a:prstGeom>
        </p:spPr>
      </p:pic>
      <p:sp>
        <p:nvSpPr>
          <p:cNvPr id="8" name="Text 4"/>
          <p:cNvSpPr txBox="1"/>
          <p:nvPr/>
        </p:nvSpPr>
        <p:spPr>
          <a:xfrm>
            <a:off x="1554480" y="1737360"/>
            <a:ext cx="4023360" cy="594360"/>
          </a:xfrm>
          <a:prstGeom prst="rect">
            <a:avLst/>
          </a:prstGeom>
          <a:noFill/>
          <a:ln/>
        </p:spPr>
        <p:txBody>
          <a:bodyPr wrap="square" lIns="0" tIns="0" rIns="0" bIns="0" rtlCol="0" anchor="ctr"/>
          <a:lstStyle/>
          <a:p>
            <a:pPr marL="0" indent="0">
              <a:buNone/>
            </a:pPr>
            <a:r>
              <a:rPr lang="en-US" sz="2400" b="1" dirty="0">
                <a:solidFill>
                  <a:srgbClr val="182B40"/>
                </a:solidFill>
                <a:latin typeface="Cambria" pitchFamily="34" charset="0"/>
                <a:ea typeface="Cambria" pitchFamily="34" charset="-122"/>
                <a:cs typeface="Cambria" pitchFamily="34" charset="-120"/>
              </a:rPr>
              <a:t>Methods</a:t>
            </a:r>
            <a:endParaRPr lang="en-US" sz="2400" dirty="0"/>
          </a:p>
        </p:txBody>
      </p:sp>
      <p:sp>
        <p:nvSpPr>
          <p:cNvPr id="9" name="Text 5"/>
          <p:cNvSpPr txBox="1"/>
          <p:nvPr/>
        </p:nvSpPr>
        <p:spPr>
          <a:xfrm>
            <a:off x="777240" y="2514600"/>
            <a:ext cx="4754880" cy="457200"/>
          </a:xfrm>
          <a:prstGeom prst="rect">
            <a:avLst/>
          </a:prstGeom>
          <a:noFill/>
          <a:ln/>
        </p:spPr>
        <p:txBody>
          <a:bodyPr wrap="square" lIns="0" tIns="0" rIns="0" bIns="0" rtlCol="0" anchor="ctr"/>
          <a:lstStyle/>
          <a:p>
            <a:pPr marL="0" indent="0">
              <a:buNone/>
            </a:pPr>
            <a:r>
              <a:rPr lang="en-US" sz="1500" dirty="0">
                <a:solidFill>
                  <a:srgbClr val="5F696E"/>
                </a:solidFill>
                <a:latin typeface="Calibri" pitchFamily="34" charset="0"/>
                <a:ea typeface="Calibri" pitchFamily="34" charset="-122"/>
                <a:cs typeface="Calibri" pitchFamily="34" charset="-120"/>
              </a:rPr>
              <a:t>Each method does one job.</a:t>
            </a:r>
            <a:endParaRPr lang="en-US" sz="1500" dirty="0"/>
          </a:p>
        </p:txBody>
      </p:sp>
      <p:sp>
        <p:nvSpPr>
          <p:cNvPr id="10" name="Text 6"/>
          <p:cNvSpPr txBox="1"/>
          <p:nvPr/>
        </p:nvSpPr>
        <p:spPr>
          <a:xfrm>
            <a:off x="777240" y="3154680"/>
            <a:ext cx="2240280" cy="457200"/>
          </a:xfrm>
          <a:prstGeom prst="roundRect">
            <a:avLst>
              <a:gd name="adj" fmla="val 16000"/>
            </a:avLst>
          </a:prstGeom>
          <a:solidFill>
            <a:srgbClr val="E3EEE7"/>
          </a:solidFill>
          <a:ln>
            <a:solidFill>
              <a:srgbClr val="E3EEE7"/>
            </a:solidFill>
          </a:ln>
        </p:spPr>
        <p:txBody>
          <a:bodyPr wrap="square" lIns="0" tIns="0" rIns="0" bIns="0" rtlCol="0" anchor="ctr"/>
          <a:lstStyle/>
          <a:p>
            <a:pPr marL="0" indent="0" algn="ctr">
              <a:buNone/>
            </a:pPr>
            <a:r>
              <a:rPr lang="en-US" sz="1400" b="1" dirty="0">
                <a:solidFill>
                  <a:srgbClr val="2A754A"/>
                </a:solidFill>
                <a:latin typeface="Courier New" pitchFamily="34" charset="0"/>
                <a:ea typeface="Courier New" pitchFamily="34" charset="-122"/>
                <a:cs typeface="Courier New" pitchFamily="34" charset="-120"/>
              </a:rPr>
              <a:t>addSale()</a:t>
            </a:r>
            <a:endParaRPr lang="en-US" sz="1400" dirty="0"/>
          </a:p>
        </p:txBody>
      </p:sp>
      <p:sp>
        <p:nvSpPr>
          <p:cNvPr id="11" name="Text 7"/>
          <p:cNvSpPr txBox="1"/>
          <p:nvPr/>
        </p:nvSpPr>
        <p:spPr>
          <a:xfrm>
            <a:off x="3200400" y="3154680"/>
            <a:ext cx="2468880" cy="457200"/>
          </a:xfrm>
          <a:prstGeom prst="rect">
            <a:avLst/>
          </a:prstGeom>
          <a:noFill/>
          <a:ln/>
        </p:spPr>
        <p:txBody>
          <a:bodyPr wrap="square" lIns="0" tIns="0" rIns="0" bIns="0" rtlCol="0" anchor="ctr"/>
          <a:lstStyle/>
          <a:p>
            <a:pPr marL="0" indent="0">
              <a:buNone/>
            </a:pPr>
            <a:r>
              <a:rPr lang="en-US" sz="1500" dirty="0">
                <a:solidFill>
                  <a:srgbClr val="222B33"/>
                </a:solidFill>
                <a:latin typeface="Calibri" pitchFamily="34" charset="0"/>
                <a:ea typeface="Calibri" pitchFamily="34" charset="-122"/>
                <a:cs typeface="Calibri" pitchFamily="34" charset="-120"/>
              </a:rPr>
              <a:t>Adds a new sale</a:t>
            </a:r>
            <a:endParaRPr lang="en-US" sz="1500" dirty="0"/>
          </a:p>
        </p:txBody>
      </p:sp>
      <p:sp>
        <p:nvSpPr>
          <p:cNvPr id="12" name="Text 8"/>
          <p:cNvSpPr txBox="1"/>
          <p:nvPr/>
        </p:nvSpPr>
        <p:spPr>
          <a:xfrm>
            <a:off x="777240" y="3840480"/>
            <a:ext cx="2240280" cy="457200"/>
          </a:xfrm>
          <a:prstGeom prst="roundRect">
            <a:avLst>
              <a:gd name="adj" fmla="val 16000"/>
            </a:avLst>
          </a:prstGeom>
          <a:solidFill>
            <a:srgbClr val="E3EEE7"/>
          </a:solidFill>
          <a:ln>
            <a:solidFill>
              <a:srgbClr val="E3EEE7"/>
            </a:solidFill>
          </a:ln>
        </p:spPr>
        <p:txBody>
          <a:bodyPr wrap="square" lIns="0" tIns="0" rIns="0" bIns="0" rtlCol="0" anchor="ctr"/>
          <a:lstStyle/>
          <a:p>
            <a:pPr marL="0" indent="0" algn="ctr">
              <a:buNone/>
            </a:pPr>
            <a:r>
              <a:rPr lang="en-US" sz="1400" b="1" dirty="0">
                <a:solidFill>
                  <a:srgbClr val="2A754A"/>
                </a:solidFill>
                <a:latin typeface="Courier New" pitchFamily="34" charset="0"/>
                <a:ea typeface="Courier New" pitchFamily="34" charset="-122"/>
                <a:cs typeface="Courier New" pitchFamily="34" charset="-120"/>
              </a:rPr>
              <a:t>displaySales()</a:t>
            </a:r>
            <a:endParaRPr lang="en-US" sz="1400" dirty="0"/>
          </a:p>
        </p:txBody>
      </p:sp>
      <p:sp>
        <p:nvSpPr>
          <p:cNvPr id="13" name="Text 9"/>
          <p:cNvSpPr txBox="1"/>
          <p:nvPr/>
        </p:nvSpPr>
        <p:spPr>
          <a:xfrm>
            <a:off x="3200400" y="3840480"/>
            <a:ext cx="2468880" cy="457200"/>
          </a:xfrm>
          <a:prstGeom prst="rect">
            <a:avLst/>
          </a:prstGeom>
          <a:noFill/>
          <a:ln/>
        </p:spPr>
        <p:txBody>
          <a:bodyPr wrap="square" lIns="0" tIns="0" rIns="0" bIns="0" rtlCol="0" anchor="ctr"/>
          <a:lstStyle/>
          <a:p>
            <a:pPr marL="0" indent="0">
              <a:buNone/>
            </a:pPr>
            <a:r>
              <a:rPr lang="en-US" sz="1500" dirty="0">
                <a:solidFill>
                  <a:srgbClr val="222B33"/>
                </a:solidFill>
                <a:latin typeface="Calibri" pitchFamily="34" charset="0"/>
                <a:ea typeface="Calibri" pitchFamily="34" charset="-122"/>
                <a:cs typeface="Calibri" pitchFamily="34" charset="-120"/>
              </a:rPr>
              <a:t>Shows all sales</a:t>
            </a:r>
            <a:endParaRPr lang="en-US" sz="1500" dirty="0"/>
          </a:p>
        </p:txBody>
      </p:sp>
      <p:sp>
        <p:nvSpPr>
          <p:cNvPr id="14" name="Text 10"/>
          <p:cNvSpPr txBox="1"/>
          <p:nvPr/>
        </p:nvSpPr>
        <p:spPr>
          <a:xfrm>
            <a:off x="777240" y="4526280"/>
            <a:ext cx="2240280" cy="457200"/>
          </a:xfrm>
          <a:prstGeom prst="roundRect">
            <a:avLst>
              <a:gd name="adj" fmla="val 16000"/>
            </a:avLst>
          </a:prstGeom>
          <a:solidFill>
            <a:srgbClr val="E3EEE7"/>
          </a:solidFill>
          <a:ln>
            <a:solidFill>
              <a:srgbClr val="E3EEE7"/>
            </a:solidFill>
          </a:ln>
        </p:spPr>
        <p:txBody>
          <a:bodyPr wrap="square" lIns="0" tIns="0" rIns="0" bIns="0" rtlCol="0" anchor="ctr"/>
          <a:lstStyle/>
          <a:p>
            <a:pPr marL="0" indent="0" algn="ctr">
              <a:buNone/>
            </a:pPr>
            <a:r>
              <a:rPr lang="en-US" sz="1400" b="1" dirty="0">
                <a:solidFill>
                  <a:srgbClr val="2A754A"/>
                </a:solidFill>
                <a:latin typeface="Courier New" pitchFamily="34" charset="0"/>
                <a:ea typeface="Courier New" pitchFamily="34" charset="-122"/>
                <a:cs typeface="Courier New" pitchFamily="34" charset="-120"/>
              </a:rPr>
              <a:t>calculateRevenue()</a:t>
            </a:r>
            <a:endParaRPr lang="en-US" sz="1400" dirty="0"/>
          </a:p>
        </p:txBody>
      </p:sp>
      <p:sp>
        <p:nvSpPr>
          <p:cNvPr id="15" name="Text 11"/>
          <p:cNvSpPr txBox="1"/>
          <p:nvPr/>
        </p:nvSpPr>
        <p:spPr>
          <a:xfrm>
            <a:off x="3200400" y="4526280"/>
            <a:ext cx="2468880" cy="457200"/>
          </a:xfrm>
          <a:prstGeom prst="rect">
            <a:avLst/>
          </a:prstGeom>
          <a:noFill/>
          <a:ln/>
        </p:spPr>
        <p:txBody>
          <a:bodyPr wrap="square" lIns="0" tIns="0" rIns="0" bIns="0" rtlCol="0" anchor="ctr"/>
          <a:lstStyle/>
          <a:p>
            <a:pPr marL="0" indent="0">
              <a:buNone/>
            </a:pPr>
            <a:r>
              <a:rPr lang="en-US" sz="1500" dirty="0">
                <a:solidFill>
                  <a:srgbClr val="222B33"/>
                </a:solidFill>
                <a:latin typeface="Calibri" pitchFamily="34" charset="0"/>
                <a:ea typeface="Calibri" pitchFamily="34" charset="-122"/>
                <a:cs typeface="Calibri" pitchFamily="34" charset="-120"/>
              </a:rPr>
              <a:t>Finds total money earned</a:t>
            </a:r>
            <a:endParaRPr lang="en-US" sz="1500" dirty="0"/>
          </a:p>
        </p:txBody>
      </p:sp>
      <p:sp>
        <p:nvSpPr>
          <p:cNvPr id="16" name="Text 12"/>
          <p:cNvSpPr txBox="1"/>
          <p:nvPr/>
        </p:nvSpPr>
        <p:spPr>
          <a:xfrm>
            <a:off x="777240" y="5212080"/>
            <a:ext cx="2240280" cy="457200"/>
          </a:xfrm>
          <a:prstGeom prst="roundRect">
            <a:avLst>
              <a:gd name="adj" fmla="val 16000"/>
            </a:avLst>
          </a:prstGeom>
          <a:solidFill>
            <a:srgbClr val="E3EEE7"/>
          </a:solidFill>
          <a:ln>
            <a:solidFill>
              <a:srgbClr val="E3EEE7"/>
            </a:solidFill>
          </a:ln>
        </p:spPr>
        <p:txBody>
          <a:bodyPr wrap="square" lIns="0" tIns="0" rIns="0" bIns="0" rtlCol="0" anchor="ctr"/>
          <a:lstStyle/>
          <a:p>
            <a:pPr marL="0" indent="0" algn="ctr">
              <a:buNone/>
            </a:pPr>
            <a:r>
              <a:rPr lang="en-US" sz="1400" b="1" dirty="0">
                <a:solidFill>
                  <a:srgbClr val="2A754A"/>
                </a:solidFill>
                <a:latin typeface="Courier New" pitchFamily="34" charset="0"/>
                <a:ea typeface="Courier New" pitchFamily="34" charset="-122"/>
                <a:cs typeface="Courier New" pitchFamily="34" charset="-120"/>
              </a:rPr>
              <a:t>calculateProfit()</a:t>
            </a:r>
            <a:endParaRPr lang="en-US" sz="1400" dirty="0"/>
          </a:p>
        </p:txBody>
      </p:sp>
      <p:sp>
        <p:nvSpPr>
          <p:cNvPr id="17" name="Text 13"/>
          <p:cNvSpPr txBox="1"/>
          <p:nvPr/>
        </p:nvSpPr>
        <p:spPr>
          <a:xfrm>
            <a:off x="3200400" y="5212080"/>
            <a:ext cx="2468880" cy="457200"/>
          </a:xfrm>
          <a:prstGeom prst="rect">
            <a:avLst/>
          </a:prstGeom>
          <a:noFill/>
          <a:ln/>
        </p:spPr>
        <p:txBody>
          <a:bodyPr wrap="square" lIns="0" tIns="0" rIns="0" bIns="0" rtlCol="0" anchor="ctr"/>
          <a:lstStyle/>
          <a:p>
            <a:pPr marL="0" indent="0">
              <a:buNone/>
            </a:pPr>
            <a:r>
              <a:rPr lang="en-US" sz="1500" dirty="0">
                <a:solidFill>
                  <a:srgbClr val="222B33"/>
                </a:solidFill>
                <a:latin typeface="Calibri" pitchFamily="34" charset="0"/>
                <a:ea typeface="Calibri" pitchFamily="34" charset="-122"/>
                <a:cs typeface="Calibri" pitchFamily="34" charset="-120"/>
              </a:rPr>
              <a:t>Finds the profit</a:t>
            </a:r>
            <a:endParaRPr lang="en-US" sz="1500" dirty="0"/>
          </a:p>
        </p:txBody>
      </p:sp>
      <p:sp>
        <p:nvSpPr>
          <p:cNvPr id="18" name="Shape 14"/>
          <p:cNvSpPr/>
          <p:nvPr/>
        </p:nvSpPr>
        <p:spPr>
          <a:xfrm>
            <a:off x="6336792" y="1463040"/>
            <a:ext cx="5394960" cy="4526280"/>
          </a:xfrm>
          <a:prstGeom prst="roundRect">
            <a:avLst>
              <a:gd name="adj" fmla="val 2424"/>
            </a:avLst>
          </a:prstGeom>
          <a:solidFill>
            <a:srgbClr val="FFFFFF"/>
          </a:solidFill>
          <a:ln w="9525">
            <a:solidFill>
              <a:srgbClr val="E4E2D8"/>
            </a:solidFill>
            <a:prstDash val="solid"/>
          </a:ln>
          <a:effectLst>
            <a:outerShdw blurRad="101600" dist="25400" dir="5400000" algn="bl" rotWithShape="0">
              <a:srgbClr val="000000">
                <a:alpha val="10000"/>
              </a:srgbClr>
            </a:outerShdw>
          </a:effectLst>
        </p:spPr>
      </p:sp>
      <p:sp>
        <p:nvSpPr>
          <p:cNvPr id="19" name="Shape 15"/>
          <p:cNvSpPr/>
          <p:nvPr/>
        </p:nvSpPr>
        <p:spPr>
          <a:xfrm>
            <a:off x="6656832" y="1737360"/>
            <a:ext cx="594360" cy="594360"/>
          </a:xfrm>
          <a:prstGeom prst="ellipse">
            <a:avLst/>
          </a:prstGeom>
          <a:solidFill>
            <a:srgbClr val="2A754A"/>
          </a:solidFill>
          <a:ln w="12700">
            <a:solidFill>
              <a:srgbClr val="2A754A"/>
            </a:solidFill>
            <a:prstDash val="solid"/>
          </a:ln>
        </p:spPr>
      </p:sp>
      <p:pic>
        <p:nvPicPr>
          <p:cNvPr id="20" name="Image 2" descr="preencoded.png"/>
          <p:cNvPicPr>
            <a:picLocks noChangeAspect="1"/>
          </p:cNvPicPr>
          <p:nvPr/>
        </p:nvPicPr>
        <p:blipFill>
          <a:blip r:embed="rId5"/>
          <a:stretch>
            <a:fillRect/>
          </a:stretch>
        </p:blipFill>
        <p:spPr>
          <a:xfrm>
            <a:off x="6811366" y="1891894"/>
            <a:ext cx="285293" cy="285293"/>
          </a:xfrm>
          <a:prstGeom prst="rect">
            <a:avLst/>
          </a:prstGeom>
        </p:spPr>
      </p:pic>
      <p:sp>
        <p:nvSpPr>
          <p:cNvPr id="21" name="Text 16"/>
          <p:cNvSpPr txBox="1"/>
          <p:nvPr/>
        </p:nvSpPr>
        <p:spPr>
          <a:xfrm>
            <a:off x="7434072" y="1737360"/>
            <a:ext cx="4023360" cy="594360"/>
          </a:xfrm>
          <a:prstGeom prst="rect">
            <a:avLst/>
          </a:prstGeom>
          <a:noFill/>
          <a:ln/>
        </p:spPr>
        <p:txBody>
          <a:bodyPr wrap="square" lIns="0" tIns="0" rIns="0" bIns="0" rtlCol="0" anchor="ctr"/>
          <a:lstStyle/>
          <a:p>
            <a:pPr marL="0" indent="0">
              <a:buNone/>
            </a:pPr>
            <a:r>
              <a:rPr lang="en-US" sz="2400" b="1" dirty="0">
                <a:solidFill>
                  <a:srgbClr val="182B40"/>
                </a:solidFill>
                <a:latin typeface="Cambria" pitchFamily="34" charset="0"/>
                <a:ea typeface="Cambria" pitchFamily="34" charset="-122"/>
                <a:cs typeface="Cambria" pitchFamily="34" charset="-120"/>
              </a:rPr>
              <a:t>ArrayList</a:t>
            </a:r>
            <a:endParaRPr lang="en-US" sz="2400" dirty="0"/>
          </a:p>
        </p:txBody>
      </p:sp>
      <p:sp>
        <p:nvSpPr>
          <p:cNvPr id="22" name="Text 17"/>
          <p:cNvSpPr txBox="1"/>
          <p:nvPr/>
        </p:nvSpPr>
        <p:spPr>
          <a:xfrm>
            <a:off x="6656832" y="2514600"/>
            <a:ext cx="4754880" cy="457200"/>
          </a:xfrm>
          <a:prstGeom prst="rect">
            <a:avLst/>
          </a:prstGeom>
          <a:noFill/>
          <a:ln/>
        </p:spPr>
        <p:txBody>
          <a:bodyPr wrap="square" lIns="0" tIns="0" rIns="0" bIns="0" rtlCol="0" anchor="ctr"/>
          <a:lstStyle/>
          <a:p>
            <a:pPr marL="0" indent="0">
              <a:buNone/>
            </a:pPr>
            <a:r>
              <a:rPr lang="en-US" sz="1500" dirty="0">
                <a:solidFill>
                  <a:srgbClr val="5F696E"/>
                </a:solidFill>
                <a:latin typeface="Calibri" pitchFamily="34" charset="0"/>
                <a:ea typeface="Calibri" pitchFamily="34" charset="-122"/>
                <a:cs typeface="Calibri" pitchFamily="34" charset="-120"/>
              </a:rPr>
              <a:t>ArrayList&lt;Sale&gt; sales stores many sales. It grows by itself.</a:t>
            </a:r>
            <a:endParaRPr lang="en-US" sz="1500" dirty="0"/>
          </a:p>
        </p:txBody>
      </p:sp>
      <p:sp>
        <p:nvSpPr>
          <p:cNvPr id="23" name="Text 18"/>
          <p:cNvSpPr txBox="1"/>
          <p:nvPr/>
        </p:nvSpPr>
        <p:spPr>
          <a:xfrm>
            <a:off x="6656832" y="3154680"/>
            <a:ext cx="2240280" cy="457200"/>
          </a:xfrm>
          <a:prstGeom prst="roundRect">
            <a:avLst>
              <a:gd name="adj" fmla="val 16000"/>
            </a:avLst>
          </a:prstGeom>
          <a:solidFill>
            <a:srgbClr val="E3EEE7"/>
          </a:solidFill>
          <a:ln>
            <a:solidFill>
              <a:srgbClr val="E3EEE7"/>
            </a:solidFill>
          </a:ln>
        </p:spPr>
        <p:txBody>
          <a:bodyPr wrap="square" lIns="0" tIns="0" rIns="0" bIns="0" rtlCol="0" anchor="ctr"/>
          <a:lstStyle/>
          <a:p>
            <a:pPr marL="0" indent="0" algn="ctr">
              <a:buNone/>
            </a:pPr>
            <a:r>
              <a:rPr lang="en-US" sz="1400" b="1" dirty="0">
                <a:solidFill>
                  <a:srgbClr val="2A754A"/>
                </a:solidFill>
                <a:latin typeface="Courier New" pitchFamily="34" charset="0"/>
                <a:ea typeface="Courier New" pitchFamily="34" charset="-122"/>
                <a:cs typeface="Courier New" pitchFamily="34" charset="-120"/>
              </a:rPr>
              <a:t>sales.add(...)</a:t>
            </a:r>
            <a:endParaRPr lang="en-US" sz="1400" dirty="0"/>
          </a:p>
        </p:txBody>
      </p:sp>
      <p:sp>
        <p:nvSpPr>
          <p:cNvPr id="24" name="Text 19"/>
          <p:cNvSpPr txBox="1"/>
          <p:nvPr/>
        </p:nvSpPr>
        <p:spPr>
          <a:xfrm>
            <a:off x="9079992" y="3154680"/>
            <a:ext cx="2468880" cy="457200"/>
          </a:xfrm>
          <a:prstGeom prst="rect">
            <a:avLst/>
          </a:prstGeom>
          <a:noFill/>
          <a:ln/>
        </p:spPr>
        <p:txBody>
          <a:bodyPr wrap="square" lIns="0" tIns="0" rIns="0" bIns="0" rtlCol="0" anchor="ctr"/>
          <a:lstStyle/>
          <a:p>
            <a:pPr marL="0" indent="0">
              <a:buNone/>
            </a:pPr>
            <a:r>
              <a:rPr lang="en-US" sz="1500" dirty="0">
                <a:solidFill>
                  <a:srgbClr val="222B33"/>
                </a:solidFill>
                <a:latin typeface="Calibri" pitchFamily="34" charset="0"/>
                <a:ea typeface="Calibri" pitchFamily="34" charset="-122"/>
                <a:cs typeface="Calibri" pitchFamily="34" charset="-120"/>
              </a:rPr>
              <a:t>Adds a new record</a:t>
            </a:r>
            <a:endParaRPr lang="en-US" sz="1500" dirty="0"/>
          </a:p>
        </p:txBody>
      </p:sp>
      <p:sp>
        <p:nvSpPr>
          <p:cNvPr id="25" name="Text 20"/>
          <p:cNvSpPr txBox="1"/>
          <p:nvPr/>
        </p:nvSpPr>
        <p:spPr>
          <a:xfrm>
            <a:off x="6656832" y="3840480"/>
            <a:ext cx="2240280" cy="457200"/>
          </a:xfrm>
          <a:prstGeom prst="roundRect">
            <a:avLst>
              <a:gd name="adj" fmla="val 16000"/>
            </a:avLst>
          </a:prstGeom>
          <a:solidFill>
            <a:srgbClr val="E3EEE7"/>
          </a:solidFill>
          <a:ln>
            <a:solidFill>
              <a:srgbClr val="E3EEE7"/>
            </a:solidFill>
          </a:ln>
        </p:spPr>
        <p:txBody>
          <a:bodyPr wrap="square" lIns="0" tIns="0" rIns="0" bIns="0" rtlCol="0" anchor="ctr"/>
          <a:lstStyle/>
          <a:p>
            <a:pPr marL="0" indent="0" algn="ctr">
              <a:buNone/>
            </a:pPr>
            <a:r>
              <a:rPr lang="en-US" sz="1400" b="1" dirty="0">
                <a:solidFill>
                  <a:srgbClr val="2A754A"/>
                </a:solidFill>
                <a:latin typeface="Courier New" pitchFamily="34" charset="0"/>
                <a:ea typeface="Courier New" pitchFamily="34" charset="-122"/>
                <a:cs typeface="Courier New" pitchFamily="34" charset="-120"/>
              </a:rPr>
              <a:t>sales.isEmpty()</a:t>
            </a:r>
            <a:endParaRPr lang="en-US" sz="1400" dirty="0"/>
          </a:p>
        </p:txBody>
      </p:sp>
      <p:sp>
        <p:nvSpPr>
          <p:cNvPr id="26" name="Text 21"/>
          <p:cNvSpPr txBox="1"/>
          <p:nvPr/>
        </p:nvSpPr>
        <p:spPr>
          <a:xfrm>
            <a:off x="9079992" y="3840480"/>
            <a:ext cx="2468880" cy="457200"/>
          </a:xfrm>
          <a:prstGeom prst="rect">
            <a:avLst/>
          </a:prstGeom>
          <a:noFill/>
          <a:ln/>
        </p:spPr>
        <p:txBody>
          <a:bodyPr wrap="square" lIns="0" tIns="0" rIns="0" bIns="0" rtlCol="0" anchor="ctr"/>
          <a:lstStyle/>
          <a:p>
            <a:pPr marL="0" indent="0">
              <a:buNone/>
            </a:pPr>
            <a:r>
              <a:rPr lang="en-US" sz="1500" dirty="0">
                <a:solidFill>
                  <a:srgbClr val="222B33"/>
                </a:solidFill>
                <a:latin typeface="Calibri" pitchFamily="34" charset="0"/>
                <a:ea typeface="Calibri" pitchFamily="34" charset="-122"/>
                <a:cs typeface="Calibri" pitchFamily="34" charset="-120"/>
              </a:rPr>
              <a:t>Checks if the list is empty</a:t>
            </a:r>
            <a:endParaRPr lang="en-US" sz="1500" dirty="0"/>
          </a:p>
        </p:txBody>
      </p:sp>
      <p:sp>
        <p:nvSpPr>
          <p:cNvPr id="27" name="Text 22"/>
          <p:cNvSpPr txBox="1"/>
          <p:nvPr/>
        </p:nvSpPr>
        <p:spPr>
          <a:xfrm>
            <a:off x="6656832" y="4526280"/>
            <a:ext cx="2240280" cy="457200"/>
          </a:xfrm>
          <a:prstGeom prst="roundRect">
            <a:avLst>
              <a:gd name="adj" fmla="val 16000"/>
            </a:avLst>
          </a:prstGeom>
          <a:solidFill>
            <a:srgbClr val="E3EEE7"/>
          </a:solidFill>
          <a:ln>
            <a:solidFill>
              <a:srgbClr val="E3EEE7"/>
            </a:solidFill>
          </a:ln>
        </p:spPr>
        <p:txBody>
          <a:bodyPr wrap="square" lIns="0" tIns="0" rIns="0" bIns="0" rtlCol="0" anchor="ctr"/>
          <a:lstStyle/>
          <a:p>
            <a:pPr marL="0" indent="0" algn="ctr">
              <a:buNone/>
            </a:pPr>
            <a:r>
              <a:rPr lang="en-US" sz="1400" b="1" dirty="0">
                <a:solidFill>
                  <a:srgbClr val="2A754A"/>
                </a:solidFill>
                <a:latin typeface="Courier New" pitchFamily="34" charset="0"/>
                <a:ea typeface="Courier New" pitchFamily="34" charset="-122"/>
                <a:cs typeface="Courier New" pitchFamily="34" charset="-120"/>
              </a:rPr>
              <a:t>sales.size()</a:t>
            </a:r>
            <a:endParaRPr lang="en-US" sz="1400" dirty="0"/>
          </a:p>
        </p:txBody>
      </p:sp>
      <p:sp>
        <p:nvSpPr>
          <p:cNvPr id="28" name="Text 23"/>
          <p:cNvSpPr txBox="1"/>
          <p:nvPr/>
        </p:nvSpPr>
        <p:spPr>
          <a:xfrm>
            <a:off x="9079992" y="4526280"/>
            <a:ext cx="2468880" cy="457200"/>
          </a:xfrm>
          <a:prstGeom prst="rect">
            <a:avLst/>
          </a:prstGeom>
          <a:noFill/>
          <a:ln/>
        </p:spPr>
        <p:txBody>
          <a:bodyPr wrap="square" lIns="0" tIns="0" rIns="0" bIns="0" rtlCol="0" anchor="ctr"/>
          <a:lstStyle/>
          <a:p>
            <a:pPr marL="0" indent="0">
              <a:buNone/>
            </a:pPr>
            <a:r>
              <a:rPr lang="en-US" sz="1500" dirty="0">
                <a:solidFill>
                  <a:srgbClr val="222B33"/>
                </a:solidFill>
                <a:latin typeface="Calibri" pitchFamily="34" charset="0"/>
                <a:ea typeface="Calibri" pitchFamily="34" charset="-122"/>
                <a:cs typeface="Calibri" pitchFamily="34" charset="-120"/>
              </a:rPr>
              <a:t>Tells how many records</a:t>
            </a:r>
            <a:endParaRPr lang="en-US" sz="1500" dirty="0"/>
          </a:p>
        </p:txBody>
      </p:sp>
      <p:sp>
        <p:nvSpPr>
          <p:cNvPr id="29" name="Text 24"/>
          <p:cNvSpPr txBox="1"/>
          <p:nvPr/>
        </p:nvSpPr>
        <p:spPr>
          <a:xfrm>
            <a:off x="6656832" y="5212080"/>
            <a:ext cx="2240280" cy="457200"/>
          </a:xfrm>
          <a:prstGeom prst="roundRect">
            <a:avLst>
              <a:gd name="adj" fmla="val 16000"/>
            </a:avLst>
          </a:prstGeom>
          <a:solidFill>
            <a:srgbClr val="E3EEE7"/>
          </a:solidFill>
          <a:ln>
            <a:solidFill>
              <a:srgbClr val="E3EEE7"/>
            </a:solidFill>
          </a:ln>
        </p:spPr>
        <p:txBody>
          <a:bodyPr wrap="square" lIns="0" tIns="0" rIns="0" bIns="0" rtlCol="0" anchor="ctr"/>
          <a:lstStyle/>
          <a:p>
            <a:pPr marL="0" indent="0" algn="ctr">
              <a:buNone/>
            </a:pPr>
            <a:r>
              <a:rPr lang="en-US" sz="1400" b="1" dirty="0">
                <a:solidFill>
                  <a:srgbClr val="2A754A"/>
                </a:solidFill>
                <a:latin typeface="Courier New" pitchFamily="34" charset="0"/>
                <a:ea typeface="Courier New" pitchFamily="34" charset="-122"/>
                <a:cs typeface="Courier New" pitchFamily="34" charset="-120"/>
              </a:rPr>
              <a:t>sales.get(i)</a:t>
            </a:r>
            <a:endParaRPr lang="en-US" sz="1400" dirty="0"/>
          </a:p>
        </p:txBody>
      </p:sp>
      <p:sp>
        <p:nvSpPr>
          <p:cNvPr id="30" name="Text 25"/>
          <p:cNvSpPr txBox="1"/>
          <p:nvPr/>
        </p:nvSpPr>
        <p:spPr>
          <a:xfrm>
            <a:off x="9079992" y="5212080"/>
            <a:ext cx="2468880" cy="457200"/>
          </a:xfrm>
          <a:prstGeom prst="rect">
            <a:avLst/>
          </a:prstGeom>
          <a:noFill/>
          <a:ln/>
        </p:spPr>
        <p:txBody>
          <a:bodyPr wrap="square" lIns="0" tIns="0" rIns="0" bIns="0" rtlCol="0" anchor="ctr"/>
          <a:lstStyle/>
          <a:p>
            <a:pPr marL="0" indent="0">
              <a:buNone/>
            </a:pPr>
            <a:r>
              <a:rPr lang="en-US" sz="1500" dirty="0">
                <a:solidFill>
                  <a:srgbClr val="222B33"/>
                </a:solidFill>
                <a:latin typeface="Calibri" pitchFamily="34" charset="0"/>
                <a:ea typeface="Calibri" pitchFamily="34" charset="-122"/>
                <a:cs typeface="Calibri" pitchFamily="34" charset="-120"/>
              </a:rPr>
              <a:t>Gets one record at position i</a:t>
            </a:r>
            <a:endParaRPr lang="en-US" sz="1500" dirty="0"/>
          </a:p>
        </p:txBody>
      </p:sp>
      <p:sp>
        <p:nvSpPr>
          <p:cNvPr id="31" name="Slide Number Placeholder 0"/>
          <p:cNvSpPr>
            <a:spLocks noGrp="1"/>
          </p:cNvSpPr>
          <p:nvPr>
            <p:ph type="sldNum" sz="quarter" idx="4294967295"/>
          </p:nvPr>
        </p:nvSpPr>
        <p:spPr>
          <a:xfrm>
            <a:off x="11247120" y="6382512"/>
            <a:ext cx="48463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F696E"/>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7F2"/>
        </a:solidFill>
        <a:effectLst/>
      </p:bgPr>
    </p:bg>
    <p:spTree>
      <p:nvGrpSpPr>
        <p:cNvPr id="1" name=""/>
        <p:cNvGrpSpPr/>
        <p:nvPr/>
      </p:nvGrpSpPr>
      <p:grpSpPr>
        <a:xfrm>
          <a:off x="0" y="0"/>
          <a:ext cx="0" cy="0"/>
          <a:chOff x="0" y="0"/>
          <a:chExt cx="0" cy="0"/>
        </a:xfrm>
      </p:grpSpPr>
      <p:pic>
        <p:nvPicPr>
          <p:cNvPr id="2" name="Image 0" descr="/home/claude/orig_x/ppt/media/image1.png"/>
          <p:cNvPicPr>
            <a:picLocks noChangeAspect="1"/>
          </p:cNvPicPr>
          <p:nvPr/>
        </p:nvPicPr>
        <p:blipFill>
          <a:blip r:embed="rId3"/>
          <a:stretch>
            <a:fillRect/>
          </a:stretch>
        </p:blipFill>
        <p:spPr>
          <a:xfrm>
            <a:off x="457200" y="274320"/>
            <a:ext cx="1097280" cy="815645"/>
          </a:xfrm>
          <a:prstGeom prst="rect">
            <a:avLst/>
          </a:prstGeom>
        </p:spPr>
      </p:pic>
      <p:sp>
        <p:nvSpPr>
          <p:cNvPr id="3" name="Text 0"/>
          <p:cNvSpPr txBox="1"/>
          <p:nvPr/>
        </p:nvSpPr>
        <p:spPr>
          <a:xfrm>
            <a:off x="1783080" y="411480"/>
            <a:ext cx="9966960" cy="685800"/>
          </a:xfrm>
          <a:prstGeom prst="rect">
            <a:avLst/>
          </a:prstGeom>
          <a:noFill/>
          <a:ln/>
        </p:spPr>
        <p:txBody>
          <a:bodyPr wrap="square" lIns="0" tIns="0" rIns="0" bIns="0" rtlCol="0" anchor="ctr"/>
          <a:lstStyle/>
          <a:p>
            <a:pPr marL="0" indent="0" algn="l">
              <a:buNone/>
            </a:pPr>
            <a:r>
              <a:rPr lang="en-US" sz="3600" b="1" dirty="0">
                <a:solidFill>
                  <a:srgbClr val="182B40"/>
                </a:solidFill>
                <a:latin typeface="Cambria" pitchFamily="34" charset="0"/>
                <a:ea typeface="Cambria" pitchFamily="34" charset="-122"/>
                <a:cs typeface="Cambria" pitchFamily="34" charset="-120"/>
              </a:rPr>
              <a:t>Geo Tag Photo &amp; GitHub Link</a:t>
            </a:r>
            <a:endParaRPr lang="en-US" sz="3600" dirty="0"/>
          </a:p>
        </p:txBody>
      </p:sp>
      <p:sp>
        <p:nvSpPr>
          <p:cNvPr id="4" name="Text 1"/>
          <p:cNvSpPr txBox="1"/>
          <p:nvPr/>
        </p:nvSpPr>
        <p:spPr>
          <a:xfrm>
            <a:off x="457200" y="6382512"/>
            <a:ext cx="5486400" cy="274320"/>
          </a:xfrm>
          <a:prstGeom prst="rect">
            <a:avLst/>
          </a:prstGeom>
          <a:noFill/>
          <a:ln/>
        </p:spPr>
        <p:txBody>
          <a:bodyPr wrap="square" lIns="0" tIns="0" rIns="0" bIns="0" rtlCol="0" anchor="ctr"/>
          <a:lstStyle/>
          <a:p>
            <a:pPr marL="0" indent="0">
              <a:buNone/>
            </a:pPr>
            <a:r>
              <a:rPr lang="en-US" sz="1100" dirty="0">
                <a:solidFill>
                  <a:srgbClr val="5F696E"/>
                </a:solidFill>
                <a:latin typeface="Calibri" pitchFamily="34" charset="0"/>
                <a:ea typeface="Calibri" pitchFamily="34" charset="-122"/>
                <a:cs typeface="Calibri" pitchFamily="34" charset="-120"/>
              </a:rPr>
              <a:t>Farmer’s Market Price &amp; Sales Tracker</a:t>
            </a:r>
            <a:endParaRPr lang="en-US" sz="1100" dirty="0"/>
          </a:p>
        </p:txBody>
      </p:sp>
      <p:sp>
        <p:nvSpPr>
          <p:cNvPr id="5" name="Shape 2"/>
          <p:cNvSpPr/>
          <p:nvPr/>
        </p:nvSpPr>
        <p:spPr>
          <a:xfrm>
            <a:off x="457200" y="1463040"/>
            <a:ext cx="5394960" cy="4526280"/>
          </a:xfrm>
          <a:prstGeom prst="roundRect">
            <a:avLst>
              <a:gd name="adj" fmla="val 2424"/>
            </a:avLst>
          </a:prstGeom>
          <a:solidFill>
            <a:srgbClr val="FFFFFF"/>
          </a:solidFill>
          <a:ln w="9525">
            <a:solidFill>
              <a:srgbClr val="E4E2D8"/>
            </a:solidFill>
            <a:prstDash val="solid"/>
          </a:ln>
          <a:effectLst>
            <a:outerShdw blurRad="101600" dist="25400" dir="5400000" algn="bl" rotWithShape="0">
              <a:srgbClr val="000000">
                <a:alpha val="10000"/>
              </a:srgbClr>
            </a:outerShdw>
          </a:effectLst>
        </p:spPr>
      </p:sp>
      <p:sp>
        <p:nvSpPr>
          <p:cNvPr id="6" name="Shape 3"/>
          <p:cNvSpPr/>
          <p:nvPr/>
        </p:nvSpPr>
        <p:spPr>
          <a:xfrm>
            <a:off x="777240" y="1737360"/>
            <a:ext cx="594360" cy="594360"/>
          </a:xfrm>
          <a:prstGeom prst="ellipse">
            <a:avLst/>
          </a:prstGeom>
          <a:solidFill>
            <a:srgbClr val="2A754A"/>
          </a:solidFill>
          <a:ln w="12700">
            <a:solidFill>
              <a:srgbClr val="2A754A"/>
            </a:solidFill>
            <a:prstDash val="solid"/>
          </a:ln>
        </p:spPr>
      </p:sp>
      <p:pic>
        <p:nvPicPr>
          <p:cNvPr id="7" name="Image 1" descr="preencoded.png"/>
          <p:cNvPicPr>
            <a:picLocks noChangeAspect="1"/>
          </p:cNvPicPr>
          <p:nvPr/>
        </p:nvPicPr>
        <p:blipFill>
          <a:blip r:embed="rId4"/>
          <a:stretch>
            <a:fillRect/>
          </a:stretch>
        </p:blipFill>
        <p:spPr>
          <a:xfrm>
            <a:off x="931774" y="1891894"/>
            <a:ext cx="285293" cy="285293"/>
          </a:xfrm>
          <a:prstGeom prst="rect">
            <a:avLst/>
          </a:prstGeom>
        </p:spPr>
      </p:pic>
      <p:sp>
        <p:nvSpPr>
          <p:cNvPr id="8" name="Text 4"/>
          <p:cNvSpPr txBox="1"/>
          <p:nvPr/>
        </p:nvSpPr>
        <p:spPr>
          <a:xfrm>
            <a:off x="1554480" y="1737360"/>
            <a:ext cx="4023360" cy="594360"/>
          </a:xfrm>
          <a:prstGeom prst="rect">
            <a:avLst/>
          </a:prstGeom>
          <a:noFill/>
          <a:ln/>
        </p:spPr>
        <p:txBody>
          <a:bodyPr wrap="square" lIns="0" tIns="0" rIns="0" bIns="0" rtlCol="0" anchor="ctr"/>
          <a:lstStyle/>
          <a:p>
            <a:pPr marL="0" indent="0">
              <a:buNone/>
            </a:pPr>
            <a:r>
              <a:rPr lang="en-US" sz="2400" b="1" dirty="0">
                <a:solidFill>
                  <a:srgbClr val="182B40"/>
                </a:solidFill>
                <a:latin typeface="Cambria" pitchFamily="34" charset="0"/>
                <a:ea typeface="Cambria" pitchFamily="34" charset="-122"/>
                <a:cs typeface="Cambria" pitchFamily="34" charset="-120"/>
              </a:rPr>
              <a:t>Geo Tag Photo</a:t>
            </a:r>
            <a:endParaRPr lang="en-US" sz="2400" dirty="0"/>
          </a:p>
        </p:txBody>
      </p:sp>
      <p:sp>
        <p:nvSpPr>
          <p:cNvPr id="9" name="Shape 5"/>
          <p:cNvSpPr/>
          <p:nvPr/>
        </p:nvSpPr>
        <p:spPr>
          <a:xfrm>
            <a:off x="777240" y="2606040"/>
            <a:ext cx="4754880" cy="3063240"/>
          </a:xfrm>
          <a:prstGeom prst="roundRect">
            <a:avLst>
              <a:gd name="adj" fmla="val 2985"/>
            </a:avLst>
          </a:prstGeom>
          <a:solidFill>
            <a:srgbClr val="F8F7F2"/>
          </a:solidFill>
          <a:ln w="15875">
            <a:solidFill>
              <a:srgbClr val="A9B4AE"/>
            </a:solidFill>
            <a:prstDash val="dash"/>
          </a:ln>
        </p:spPr>
      </p:sp>
      <p:sp>
        <p:nvSpPr>
          <p:cNvPr id="10" name="Text 6"/>
          <p:cNvSpPr txBox="1"/>
          <p:nvPr/>
        </p:nvSpPr>
        <p:spPr>
          <a:xfrm>
            <a:off x="777240" y="2606040"/>
            <a:ext cx="4754880" cy="3063240"/>
          </a:xfrm>
          <a:prstGeom prst="rect">
            <a:avLst/>
          </a:prstGeom>
          <a:noFill/>
          <a:ln/>
        </p:spPr>
        <p:txBody>
          <a:bodyPr wrap="square" lIns="0" tIns="0" rIns="0" bIns="0" rtlCol="0" anchor="ctr"/>
          <a:lstStyle/>
          <a:p>
            <a:pPr marL="0" indent="0" algn="ctr">
              <a:buNone/>
            </a:pPr>
            <a:r>
              <a:rPr lang="en-US" sz="1600" dirty="0">
                <a:solidFill>
                  <a:srgbClr val="5F696E"/>
                </a:solidFill>
                <a:latin typeface="Calibri" pitchFamily="34" charset="0"/>
                <a:ea typeface="Calibri" pitchFamily="34" charset="-122"/>
                <a:cs typeface="Calibri" pitchFamily="34" charset="-120"/>
              </a:rPr>
              <a:t>Add your project photo here</a:t>
            </a:r>
            <a:endParaRPr lang="en-US" sz="1600" dirty="0"/>
          </a:p>
        </p:txBody>
      </p:sp>
      <p:sp>
        <p:nvSpPr>
          <p:cNvPr id="11" name="Shape 7"/>
          <p:cNvSpPr/>
          <p:nvPr/>
        </p:nvSpPr>
        <p:spPr>
          <a:xfrm>
            <a:off x="6336792" y="1463040"/>
            <a:ext cx="5394960" cy="4526280"/>
          </a:xfrm>
          <a:prstGeom prst="roundRect">
            <a:avLst>
              <a:gd name="adj" fmla="val 2424"/>
            </a:avLst>
          </a:prstGeom>
          <a:solidFill>
            <a:srgbClr val="FFFFFF"/>
          </a:solidFill>
          <a:ln w="9525">
            <a:solidFill>
              <a:srgbClr val="E4E2D8"/>
            </a:solidFill>
            <a:prstDash val="solid"/>
          </a:ln>
          <a:effectLst>
            <a:outerShdw blurRad="101600" dist="25400" dir="5400000" algn="bl" rotWithShape="0">
              <a:srgbClr val="000000">
                <a:alpha val="10000"/>
              </a:srgbClr>
            </a:outerShdw>
          </a:effectLst>
        </p:spPr>
      </p:sp>
      <p:sp>
        <p:nvSpPr>
          <p:cNvPr id="12" name="Shape 8"/>
          <p:cNvSpPr/>
          <p:nvPr/>
        </p:nvSpPr>
        <p:spPr>
          <a:xfrm>
            <a:off x="6656832" y="1737360"/>
            <a:ext cx="594360" cy="594360"/>
          </a:xfrm>
          <a:prstGeom prst="ellipse">
            <a:avLst/>
          </a:prstGeom>
          <a:solidFill>
            <a:srgbClr val="2A754A"/>
          </a:solidFill>
          <a:ln w="12700">
            <a:solidFill>
              <a:srgbClr val="2A754A"/>
            </a:solidFill>
            <a:prstDash val="solid"/>
          </a:ln>
        </p:spPr>
      </p:sp>
      <p:pic>
        <p:nvPicPr>
          <p:cNvPr id="13" name="Image 2" descr="preencoded.png"/>
          <p:cNvPicPr>
            <a:picLocks noChangeAspect="1"/>
          </p:cNvPicPr>
          <p:nvPr/>
        </p:nvPicPr>
        <p:blipFill>
          <a:blip r:embed="rId5"/>
          <a:stretch>
            <a:fillRect/>
          </a:stretch>
        </p:blipFill>
        <p:spPr>
          <a:xfrm>
            <a:off x="6811366" y="1891894"/>
            <a:ext cx="285293" cy="285293"/>
          </a:xfrm>
          <a:prstGeom prst="rect">
            <a:avLst/>
          </a:prstGeom>
        </p:spPr>
      </p:pic>
      <p:sp>
        <p:nvSpPr>
          <p:cNvPr id="14" name="Text 9"/>
          <p:cNvSpPr txBox="1"/>
          <p:nvPr/>
        </p:nvSpPr>
        <p:spPr>
          <a:xfrm>
            <a:off x="7434072" y="1737360"/>
            <a:ext cx="4023360" cy="594360"/>
          </a:xfrm>
          <a:prstGeom prst="rect">
            <a:avLst/>
          </a:prstGeom>
          <a:noFill/>
          <a:ln/>
        </p:spPr>
        <p:txBody>
          <a:bodyPr wrap="square" lIns="0" tIns="0" rIns="0" bIns="0" rtlCol="0" anchor="ctr"/>
          <a:lstStyle/>
          <a:p>
            <a:pPr marL="0" indent="0">
              <a:buNone/>
            </a:pPr>
            <a:r>
              <a:rPr lang="en-US" sz="2400" b="1" dirty="0">
                <a:solidFill>
                  <a:srgbClr val="182B40"/>
                </a:solidFill>
                <a:latin typeface="Cambria" pitchFamily="34" charset="0"/>
                <a:ea typeface="Cambria" pitchFamily="34" charset="-122"/>
                <a:cs typeface="Cambria" pitchFamily="34" charset="-120"/>
              </a:rPr>
              <a:t>GitHub Link</a:t>
            </a:r>
            <a:endParaRPr lang="en-US" sz="2400" dirty="0"/>
          </a:p>
        </p:txBody>
      </p:sp>
      <p:sp>
        <p:nvSpPr>
          <p:cNvPr id="15" name="Shape 10"/>
          <p:cNvSpPr/>
          <p:nvPr/>
        </p:nvSpPr>
        <p:spPr>
          <a:xfrm>
            <a:off x="6656832" y="2606040"/>
            <a:ext cx="4754880" cy="3063240"/>
          </a:xfrm>
          <a:prstGeom prst="roundRect">
            <a:avLst>
              <a:gd name="adj" fmla="val 2985"/>
            </a:avLst>
          </a:prstGeom>
          <a:solidFill>
            <a:srgbClr val="F8F7F2"/>
          </a:solidFill>
          <a:ln w="15875">
            <a:solidFill>
              <a:srgbClr val="A9B4AE"/>
            </a:solidFill>
            <a:prstDash val="dash"/>
          </a:ln>
        </p:spPr>
      </p:sp>
      <p:sp>
        <p:nvSpPr>
          <p:cNvPr id="16" name="Text 11"/>
          <p:cNvSpPr txBox="1"/>
          <p:nvPr/>
        </p:nvSpPr>
        <p:spPr>
          <a:xfrm>
            <a:off x="6656832" y="2606040"/>
            <a:ext cx="4754880" cy="3063240"/>
          </a:xfrm>
          <a:prstGeom prst="rect">
            <a:avLst/>
          </a:prstGeom>
          <a:noFill/>
          <a:ln/>
        </p:spPr>
        <p:txBody>
          <a:bodyPr wrap="square" lIns="0" tIns="0" rIns="0" bIns="0" rtlCol="0" anchor="ctr"/>
          <a:lstStyle/>
          <a:p>
            <a:pPr algn="ctr"/>
            <a:r>
              <a:rPr lang="en-US" sz="1600" dirty="0">
                <a:solidFill>
                  <a:srgbClr val="5F696E"/>
                </a:solidFill>
                <a:latin typeface="Calibri" pitchFamily="34" charset="0"/>
                <a:ea typeface="Calibri" pitchFamily="34" charset="-122"/>
                <a:cs typeface="Calibri" pitchFamily="34" charset="-120"/>
                <a:hlinkClick r:id="rId6"/>
              </a:rPr>
              <a:t>https://github.com/daivanshnikith-star/Java-Project-1</a:t>
            </a:r>
            <a:endParaRPr lang="en-US" sz="1600" dirty="0">
              <a:solidFill>
                <a:srgbClr val="5F696E"/>
              </a:solidFill>
              <a:latin typeface="Calibri" pitchFamily="34" charset="0"/>
              <a:ea typeface="Calibri" pitchFamily="34" charset="-122"/>
              <a:cs typeface="Calibri" pitchFamily="34" charset="-120"/>
            </a:endParaRPr>
          </a:p>
          <a:p>
            <a:pPr algn="ctr"/>
            <a:r>
              <a:rPr lang="en-US" sz="1600">
                <a:hlinkClick r:id="rId7"/>
              </a:rPr>
              <a:t>https://github.com/jayaram7-source/java-project-1</a:t>
            </a:r>
            <a:endParaRPr lang="en-US" sz="1600"/>
          </a:p>
          <a:p>
            <a:pPr algn="ctr"/>
            <a:endParaRPr lang="en-US" sz="1600" dirty="0"/>
          </a:p>
        </p:txBody>
      </p:sp>
      <p:sp>
        <p:nvSpPr>
          <p:cNvPr id="25" name="Slide Number Placeholder 0"/>
          <p:cNvSpPr>
            <a:spLocks noGrp="1"/>
          </p:cNvSpPr>
          <p:nvPr>
            <p:ph type="sldNum" sz="quarter" idx="4294967295"/>
          </p:nvPr>
        </p:nvSpPr>
        <p:spPr>
          <a:xfrm>
            <a:off x="11247120" y="6382512"/>
            <a:ext cx="48463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F696E"/>
                </a:solidFill>
                <a:latin typeface="Calibri"/>
                <a:ea typeface="Calibri"/>
                <a:cs typeface="Calibri"/>
              </a:defRPr>
            </a:lvl1pPr>
          </a:lstStyle>
          <a:p>
            <a:pPr algn="r"/>
            <a:fld id="{F7021451-1387-4CA6-816F-3879F97B5CBC}" type="slidenum">
              <a:rPr lang="en-US" b="0"/>
              <a:t>7</a:t>
            </a:fld>
            <a:endParaRPr lang="en-US"/>
          </a:p>
        </p:txBody>
      </p:sp>
      <p:pic>
        <p:nvPicPr>
          <p:cNvPr id="18" name="Picture 17">
            <a:extLst>
              <a:ext uri="{FF2B5EF4-FFF2-40B4-BE49-F238E27FC236}">
                <a16:creationId xmlns:a16="http://schemas.microsoft.com/office/drawing/2014/main" id="{74CD8453-0701-FCD9-DF49-65D6D2D8B5BF}"/>
              </a:ext>
            </a:extLst>
          </p:cNvPr>
          <p:cNvPicPr>
            <a:picLocks noChangeAspect="1"/>
          </p:cNvPicPr>
          <p:nvPr/>
        </p:nvPicPr>
        <p:blipFill>
          <a:blip r:embed="rId8"/>
          <a:stretch>
            <a:fillRect/>
          </a:stretch>
        </p:blipFill>
        <p:spPr>
          <a:xfrm>
            <a:off x="664234" y="2486253"/>
            <a:ext cx="4913606" cy="318302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82B40"/>
        </a:solidFill>
        <a:effectLst/>
      </p:bgPr>
    </p:bg>
    <p:spTree>
      <p:nvGrpSpPr>
        <p:cNvPr id="1" name=""/>
        <p:cNvGrpSpPr/>
        <p:nvPr/>
      </p:nvGrpSpPr>
      <p:grpSpPr>
        <a:xfrm>
          <a:off x="0" y="0"/>
          <a:ext cx="0" cy="0"/>
          <a:chOff x="0" y="0"/>
          <a:chExt cx="0" cy="0"/>
        </a:xfrm>
      </p:grpSpPr>
      <p:sp>
        <p:nvSpPr>
          <p:cNvPr id="2" name="Shape 0"/>
          <p:cNvSpPr/>
          <p:nvPr/>
        </p:nvSpPr>
        <p:spPr>
          <a:xfrm>
            <a:off x="548640" y="457200"/>
            <a:ext cx="1554480" cy="1161288"/>
          </a:xfrm>
          <a:prstGeom prst="roundRect">
            <a:avLst>
              <a:gd name="adj" fmla="val 7874"/>
            </a:avLst>
          </a:prstGeom>
          <a:solidFill>
            <a:srgbClr val="FFFFFF"/>
          </a:solidFill>
          <a:ln w="12700">
            <a:solidFill>
              <a:srgbClr val="FFFFFF"/>
            </a:solidFill>
            <a:prstDash val="solid"/>
          </a:ln>
        </p:spPr>
      </p:sp>
      <p:pic>
        <p:nvPicPr>
          <p:cNvPr id="3" name="Image 0" descr="/home/claude/orig_x/ppt/media/image1.png"/>
          <p:cNvPicPr>
            <a:picLocks noChangeAspect="1"/>
          </p:cNvPicPr>
          <p:nvPr/>
        </p:nvPicPr>
        <p:blipFill>
          <a:blip r:embed="rId3"/>
          <a:stretch>
            <a:fillRect/>
          </a:stretch>
        </p:blipFill>
        <p:spPr>
          <a:xfrm>
            <a:off x="640080" y="548640"/>
            <a:ext cx="1371600" cy="1019556"/>
          </a:xfrm>
          <a:prstGeom prst="rect">
            <a:avLst/>
          </a:prstGeom>
        </p:spPr>
      </p:pic>
      <p:sp>
        <p:nvSpPr>
          <p:cNvPr id="4" name="Shape 1"/>
          <p:cNvSpPr/>
          <p:nvPr/>
        </p:nvSpPr>
        <p:spPr>
          <a:xfrm>
            <a:off x="5367528" y="1737360"/>
            <a:ext cx="1463040" cy="1463040"/>
          </a:xfrm>
          <a:prstGeom prst="ellipse">
            <a:avLst/>
          </a:prstGeom>
          <a:solidFill>
            <a:srgbClr val="2A754A"/>
          </a:solidFill>
          <a:ln w="38100">
            <a:solidFill>
              <a:srgbClr val="3D9163"/>
            </a:solidFill>
            <a:prstDash val="solid"/>
          </a:ln>
        </p:spPr>
      </p:sp>
      <p:pic>
        <p:nvPicPr>
          <p:cNvPr id="5" name="Image 1" descr="preencoded.png"/>
          <p:cNvPicPr>
            <a:picLocks noChangeAspect="1"/>
          </p:cNvPicPr>
          <p:nvPr/>
        </p:nvPicPr>
        <p:blipFill>
          <a:blip r:embed="rId4"/>
          <a:stretch>
            <a:fillRect/>
          </a:stretch>
        </p:blipFill>
        <p:spPr>
          <a:xfrm>
            <a:off x="5824728" y="2194560"/>
            <a:ext cx="548640" cy="548640"/>
          </a:xfrm>
          <a:prstGeom prst="rect">
            <a:avLst/>
          </a:prstGeom>
        </p:spPr>
      </p:pic>
      <p:sp>
        <p:nvSpPr>
          <p:cNvPr id="6" name="Text 2"/>
          <p:cNvSpPr txBox="1"/>
          <p:nvPr/>
        </p:nvSpPr>
        <p:spPr>
          <a:xfrm>
            <a:off x="914400" y="3383280"/>
            <a:ext cx="10360152" cy="1005840"/>
          </a:xfrm>
          <a:prstGeom prst="rect">
            <a:avLst/>
          </a:prstGeom>
          <a:noFill/>
          <a:ln/>
        </p:spPr>
        <p:txBody>
          <a:bodyPr wrap="square" lIns="0" tIns="0" rIns="0" bIns="0" rtlCol="0" anchor="ctr"/>
          <a:lstStyle/>
          <a:p>
            <a:pPr marL="0" indent="0" algn="ctr">
              <a:buNone/>
            </a:pPr>
            <a:r>
              <a:rPr lang="en-US" sz="6000" b="1" dirty="0">
                <a:solidFill>
                  <a:srgbClr val="FFFFFF"/>
                </a:solidFill>
                <a:latin typeface="Cambria" pitchFamily="34" charset="0"/>
                <a:ea typeface="Cambria" pitchFamily="34" charset="-122"/>
                <a:cs typeface="Cambria" pitchFamily="34" charset="-120"/>
              </a:rPr>
              <a:t>Thank You</a:t>
            </a:r>
            <a:endParaRPr lang="en-US" sz="6000" dirty="0"/>
          </a:p>
        </p:txBody>
      </p:sp>
      <p:sp>
        <p:nvSpPr>
          <p:cNvPr id="7" name="Text 3"/>
          <p:cNvSpPr txBox="1"/>
          <p:nvPr/>
        </p:nvSpPr>
        <p:spPr>
          <a:xfrm>
            <a:off x="914400" y="4480560"/>
            <a:ext cx="10360152" cy="548640"/>
          </a:xfrm>
          <a:prstGeom prst="rect">
            <a:avLst/>
          </a:prstGeom>
          <a:noFill/>
          <a:ln/>
        </p:spPr>
        <p:txBody>
          <a:bodyPr wrap="square" lIns="0" tIns="0" rIns="0" bIns="0" rtlCol="0" anchor="ctr"/>
          <a:lstStyle/>
          <a:p>
            <a:pPr marL="0" indent="0" algn="ctr">
              <a:buNone/>
            </a:pPr>
            <a:r>
              <a:rPr lang="en-US" sz="2600" dirty="0">
                <a:solidFill>
                  <a:srgbClr val="CFE3D6"/>
                </a:solidFill>
                <a:latin typeface="Calibri" pitchFamily="34" charset="0"/>
                <a:ea typeface="Calibri" pitchFamily="34" charset="-122"/>
                <a:cs typeface="Calibri" pitchFamily="34" charset="-120"/>
              </a:rPr>
              <a:t>Any questions?</a:t>
            </a:r>
            <a:endParaRPr lang="en-US" sz="2600" dirty="0"/>
          </a:p>
        </p:txBody>
      </p:sp>
      <p:sp>
        <p:nvSpPr>
          <p:cNvPr id="8" name="Text 4"/>
          <p:cNvSpPr txBox="1"/>
          <p:nvPr/>
        </p:nvSpPr>
        <p:spPr>
          <a:xfrm>
            <a:off x="914400" y="5852160"/>
            <a:ext cx="10360152" cy="365760"/>
          </a:xfrm>
          <a:prstGeom prst="rect">
            <a:avLst/>
          </a:prstGeom>
          <a:noFill/>
          <a:ln/>
        </p:spPr>
        <p:txBody>
          <a:bodyPr wrap="square" lIns="0" tIns="0" rIns="0" bIns="0" rtlCol="0" anchor="ctr"/>
          <a:lstStyle/>
          <a:p>
            <a:pPr marL="0" indent="0" algn="ctr">
              <a:buNone/>
            </a:pPr>
            <a:r>
              <a:rPr lang="en-US" sz="1600" dirty="0">
                <a:solidFill>
                  <a:srgbClr val="AEB9C4"/>
                </a:solidFill>
                <a:latin typeface="Calibri" pitchFamily="34" charset="0"/>
                <a:ea typeface="Calibri" pitchFamily="34" charset="-122"/>
                <a:cs typeface="Calibri" pitchFamily="34" charset="-120"/>
              </a:rPr>
              <a:t>Jayaram M  •  Daivansh V</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1240</Words>
  <Application>Microsoft Office PowerPoint</Application>
  <PresentationFormat>Widescreen</PresentationFormat>
  <Paragraphs>129</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Farmer’s Market Price &amp; Sales Tracker</dc:title>
  <dc:subject>PptxGenJS Presentation</dc:subject>
  <dc:creator>Jayaram M, Daivansh V</dc:creator>
  <cp:lastModifiedBy>Jayaram M</cp:lastModifiedBy>
  <cp:revision>2</cp:revision>
  <dcterms:created xsi:type="dcterms:W3CDTF">2026-09-21T14:01:23Z</dcterms:created>
  <dcterms:modified xsi:type="dcterms:W3CDTF">2026-09-28T11:57:28Z</dcterms:modified>
</cp:coreProperties>
</file>